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96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97" r:id="rId21"/>
    <p:sldId id="298" r:id="rId22"/>
    <p:sldId id="299" r:id="rId23"/>
    <p:sldId id="300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301" r:id="rId32"/>
    <p:sldId id="283" r:id="rId33"/>
    <p:sldId id="302" r:id="rId34"/>
    <p:sldId id="284" r:id="rId35"/>
    <p:sldId id="285" r:id="rId36"/>
    <p:sldId id="286" r:id="rId37"/>
    <p:sldId id="303" r:id="rId38"/>
    <p:sldId id="287" r:id="rId39"/>
    <p:sldId id="288" r:id="rId40"/>
    <p:sldId id="304" r:id="rId41"/>
    <p:sldId id="289" r:id="rId42"/>
    <p:sldId id="290" r:id="rId43"/>
    <p:sldId id="291" r:id="rId44"/>
    <p:sldId id="292" r:id="rId45"/>
    <p:sldId id="305" r:id="rId46"/>
    <p:sldId id="293" r:id="rId47"/>
    <p:sldId id="294" r:id="rId48"/>
    <p:sldId id="295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55"/>
  </p:normalViewPr>
  <p:slideViewPr>
    <p:cSldViewPr snapToGrid="0" snapToObjects="1">
      <p:cViewPr varScale="1">
        <p:scale>
          <a:sx n="122" d="100"/>
          <a:sy n="122" d="100"/>
        </p:scale>
        <p:origin x="44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7232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Ouverture : demander qui a un modèle qui fonctionne et qui sait prouver qu’il fonctionne.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Ne pas supposer que les EDA sont terminées. Récolter les obstacles.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Insister : la qualité du raisonnement prime sur le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Faire émerger les 3 questions qu’ils auraient dû poser au professeur.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Opposer production de code et responsabilité analytique.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Faire voter : ce prompt est-il précis ou seulement enthousiaste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Ne pas confondre clustering et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Illustrer avec matchs versus équipes-saisons.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Demander aux étudiants de choisir l’option et défendre le moment de prédiction.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Expliquer leakage par temporalité et dépendance à la 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Correction : A C E potentiellement oui, B D non. Vérifier disponibilité et usage des cotes.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Faire distinguer performance et utilité.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Exemple : 90 % de non-événements ; 90 % accuracy ne sert à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Demander aux étudiants de calculer avant d’afficher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Précision et rappel au sens français : precision=valeur prédictive positive, recall=sensibilité.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Faire expliquer pourquoi le split aléatoire peut être optimiste.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Notebook de référence : notebooks/01_python_data_science/B1_S04_supervised_ml_baseline.ipynb (nom vu dans capture, contenu non vérifié).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Code schématique : X et y déjà définis, stratify requiert effectifs suffisants. Adapter split si temporalité/groupes.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Faire renseigner les vraies colonnes : éviter hallucinations.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L’IA doit défendre des choix et accepter l’absence de modèle.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Préférer un notebook court et exécutable à un framework massif.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Faire critiquer les résultats par un second prompt/second modèle si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Comparer la synthèse IA aux chiffres du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Si aucun accès IA : travail en binôme de conception de prompts puis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Évaluer qualité du protocole, pas éloquence de la réponse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Si dataset non prédictif, autoriser une justification et un projet descriptif rigoureux.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Ne pas imposer 3 erreurs si trop petit dataset ou modèle non supervisé ; adapter.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Éviter de coller des conversations interminables : extraits et décisions.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Faire tourner les rôles la prochaine séance ; ne pas cloisonner les compétences.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Démo rapide des commits et d’une revue.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Rassurer les groupes dont le dataset ne convient pas à la prédiction.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Circuler : vérifier cible, fuite, baseline avant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Faire challenger par un autre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Barème pédagogique proposé, non barème officiel de l’école.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Ce score est un signal d’audit, pas une preuve de fraude.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Laisser la slide pendant le travail autonome.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Transition au prochain 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ENSEIGNANT</a:t>
            </a:r>
          </a:p>
          <a:p>
            <a:r>
              <a:t>Finir sur responsabilité et esprit critique.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PYTHON FOR DATA SCIENCE • ESEO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S3 — FROM EDA TO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560320"/>
            <a:ext cx="10789920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2500" b="1">
                <a:solidFill>
                  <a:srgbClr val="F7FAFD"/>
                </a:solidFill>
                <a:latin typeface="Aptos"/>
              </a:defRPr>
            </a:pPr>
            <a:r>
              <a:t>PROMPT THE MODEL. CHALLENGE THE RESULT.</a:t>
            </a:r>
          </a:p>
          <a:p>
            <a:pPr>
              <a:spcAft>
                <a:spcPts val="1700"/>
              </a:spcAft>
              <a:defRPr sz="2500" b="1">
                <a:solidFill>
                  <a:srgbClr val="F7FAFD"/>
                </a:solidFill>
                <a:latin typeface="Aptos"/>
              </a:defRPr>
            </a:pPr>
            <a:r>
              <a:t>QUID → EDA → BASELINE → VALIDATION →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La mission S2 : où en êtes-vous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Vous deviez livrer :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• EDA.ipynb : source, grain, qualité, exploration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• 3 découvertes, 2 limites, 1 question à poursuivre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• README et contributions Git visibles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Aujourd’hui : cette question devient une hypothèse testable.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CONTRAT DE LA JOURNÉE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À 17 h, chaque équipe devra pouvoir…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1. Dire ce qu’elle veut prédire — ou expliquer pourquoi elle ne prédit rien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2. Construire une baseline reproductible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3. Choisir une métrique défendable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4. Expliquer un risque de fuite ou de biais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5. Montrer ses prompts, ses vérifications et ses commits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28CAD0"/>
                </a:solidFill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3200" b="1">
                <a:solidFill>
                  <a:srgbClr val="F6F9FF"/>
                </a:solidFill>
              </a:rPr>
              <a:t>Aujourd’hui : comprendre → tester → construire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103120"/>
            <a:ext cx="107899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08:05  </a:t>
            </a:r>
            <a:r>
              <a:rPr dirty="0" err="1">
                <a:solidFill>
                  <a:schemeClr val="bg1"/>
                </a:solidFill>
              </a:rPr>
              <a:t>Théorie</a:t>
            </a:r>
            <a:r>
              <a:rPr dirty="0">
                <a:solidFill>
                  <a:schemeClr val="bg1"/>
                </a:solidFill>
              </a:rPr>
              <a:t> ML et </a:t>
            </a:r>
            <a:r>
              <a:rPr dirty="0" err="1">
                <a:solidFill>
                  <a:schemeClr val="bg1"/>
                </a:solidFill>
              </a:rPr>
              <a:t>pièges</a:t>
            </a:r>
            <a:r>
              <a:rPr dirty="0">
                <a:solidFill>
                  <a:schemeClr val="bg1"/>
                </a:solidFill>
              </a:rPr>
              <a:t> de validation</a:t>
            </a:r>
          </a:p>
          <a:p>
            <a:r>
              <a:rPr dirty="0">
                <a:solidFill>
                  <a:schemeClr val="bg1"/>
                </a:solidFill>
              </a:rPr>
              <a:t>09:15  Notebook B1_S04 : </a:t>
            </a:r>
            <a:r>
              <a:rPr dirty="0" err="1">
                <a:solidFill>
                  <a:schemeClr val="bg1"/>
                </a:solidFill>
              </a:rPr>
              <a:t>exécution</a:t>
            </a:r>
            <a:r>
              <a:rPr dirty="0">
                <a:solidFill>
                  <a:schemeClr val="bg1"/>
                </a:solidFill>
              </a:rPr>
              <a:t> locale</a:t>
            </a:r>
          </a:p>
          <a:p>
            <a:r>
              <a:rPr dirty="0">
                <a:solidFill>
                  <a:schemeClr val="bg1"/>
                </a:solidFill>
              </a:rPr>
              <a:t>10:30  </a:t>
            </a:r>
            <a:r>
              <a:rPr dirty="0" err="1">
                <a:solidFill>
                  <a:schemeClr val="bg1"/>
                </a:solidFill>
              </a:rPr>
              <a:t>Expériences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contrôlées</a:t>
            </a:r>
            <a:r>
              <a:rPr dirty="0">
                <a:solidFill>
                  <a:schemeClr val="bg1"/>
                </a:solidFill>
              </a:rPr>
              <a:t> + prompts IA</a:t>
            </a:r>
          </a:p>
          <a:p>
            <a:r>
              <a:rPr dirty="0">
                <a:solidFill>
                  <a:schemeClr val="bg1"/>
                </a:solidFill>
              </a:rPr>
              <a:t>11:30  </a:t>
            </a:r>
            <a:r>
              <a:rPr dirty="0" err="1">
                <a:solidFill>
                  <a:schemeClr val="bg1"/>
                </a:solidFill>
              </a:rPr>
              <a:t>Débrief</a:t>
            </a:r>
            <a:r>
              <a:rPr dirty="0">
                <a:solidFill>
                  <a:schemeClr val="bg1"/>
                </a:solidFill>
              </a:rPr>
              <a:t> et </a:t>
            </a:r>
            <a:r>
              <a:rPr dirty="0" err="1">
                <a:solidFill>
                  <a:schemeClr val="bg1"/>
                </a:solidFill>
              </a:rPr>
              <a:t>préparation</a:t>
            </a:r>
            <a:r>
              <a:rPr dirty="0">
                <a:solidFill>
                  <a:schemeClr val="bg1"/>
                </a:solidFill>
              </a:rPr>
              <a:t> du </a:t>
            </a:r>
            <a:r>
              <a:rPr dirty="0" err="1">
                <a:solidFill>
                  <a:schemeClr val="bg1"/>
                </a:solidFill>
              </a:rPr>
              <a:t>projet</a:t>
            </a:r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11:50–13:50  PAUSE DÉJEUNER</a:t>
            </a:r>
          </a:p>
          <a:p>
            <a:r>
              <a:rPr dirty="0">
                <a:solidFill>
                  <a:schemeClr val="bg1"/>
                </a:solidFill>
              </a:rPr>
              <a:t>13:50  </a:t>
            </a:r>
            <a:r>
              <a:rPr dirty="0" err="1">
                <a:solidFill>
                  <a:schemeClr val="bg1"/>
                </a:solidFill>
              </a:rPr>
              <a:t>Votre</a:t>
            </a:r>
            <a:r>
              <a:rPr dirty="0">
                <a:solidFill>
                  <a:schemeClr val="bg1"/>
                </a:solidFill>
              </a:rPr>
              <a:t> dataset : baseline + audit</a:t>
            </a:r>
          </a:p>
          <a:p>
            <a:r>
              <a:rPr dirty="0">
                <a:solidFill>
                  <a:schemeClr val="bg1"/>
                </a:solidFill>
              </a:rPr>
              <a:t>16:45  Restitution et commits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27648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000" b="0">
                <a:solidFill>
                  <a:srgbClr val="A7B9D0"/>
                </a:solidFill>
              </a:rPr>
              <a:t>MISSION S3 • ESEO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DÉCLENCHEUR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« On est perdus. » Très bien.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Une consigne ambiguë n’autorise pas à inventer silencieusement les hypothèses.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En entreprise : demander le contexte, le périmètre et le critère de succès.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Dans ce cours : une question utile vaut mieux que 100 lignes de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RÈGLE D’OR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AI is a copilot. You are accountable.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07040" cy="3108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2400" b="0">
                <a:solidFill>
                  <a:srgbClr val="F7FAFD"/>
                </a:solidFill>
                <a:latin typeface="Aptos"/>
              </a:defRPr>
            </a:pPr>
            <a:r>
              <a:t>L’IA peut proposer : du code, un pipeline, une métrique, un modèle.</a:t>
            </a:r>
          </a:p>
          <a:p>
            <a:pPr>
              <a:spcAft>
                <a:spcPts val="1700"/>
              </a:spcAft>
              <a:defRPr sz="2400" b="0">
                <a:solidFill>
                  <a:srgbClr val="F7FAFD"/>
                </a:solidFill>
                <a:latin typeface="Aptos"/>
              </a:defRPr>
            </a:pPr>
            <a:r>
              <a:t>Elle ne connaît pas automatiquement : le coût de l’erreur, la population cible, les fuites, le contexte métier.</a:t>
            </a:r>
          </a:p>
          <a:p>
            <a:pPr>
              <a:spcAft>
                <a:spcPts val="1700"/>
              </a:spcAft>
              <a:defRPr sz="2400" b="0">
                <a:solidFill>
                  <a:srgbClr val="F7FAFD"/>
                </a:solidFill>
                <a:latin typeface="Aptos"/>
              </a:defRPr>
            </a:pPr>
            <a:r>
              <a:t>VOUS signez la conclusion.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ACTIVITÉ • 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Le prompt le plus dangereux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PROMPT A : « Voici mon CSV. Fais le meilleur modèle de ML possible. »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Par binômes : listez 5 décisions que l’IA devra inventer.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Mise en commun : cible, unité, horizon, découpage, métrique, baseline, coût des erreurs.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ML EN UNE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Trois familles de problèmes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CLASSIFICATION → catégorie : qualification / non-qualification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RÉGRESSION → valeur : nombre de buts / prix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CLUSTERING → groupes sans étiquette : profils d’équipes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Attention : une EDA n’impose pas forcément un modèle.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Target, features,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X = variables explicatives (features)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y = cible à prédire (target)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Une observation = une ligne, selon le grain défini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La cible doit être disponible pour l’entraînement, pas forcément pour l’inférence.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CAS FIL ROUGE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Champions League : prédire quoi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Option A : résultat d’un match avant le coup d’envoi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Option B : qualification pour les quarts avant le début de la phase de groupes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Option C : nombre de buts du match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Chaque option change : l’unité, les variables admissibles et l’évaluation.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PIÈGE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Le modèle qui connaît déjà la réponse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07040" cy="3108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2400" b="0">
                <a:solidFill>
                  <a:srgbClr val="F7FAFD"/>
                </a:solidFill>
                <a:latin typeface="Aptos"/>
              </a:defRPr>
            </a:pPr>
            <a:r>
              <a:t>Prédire la victoire avec les buts marqués pendant le match ?</a:t>
            </a:r>
          </a:p>
          <a:p>
            <a:pPr>
              <a:spcAft>
                <a:spcPts val="1700"/>
              </a:spcAft>
              <a:defRPr sz="2400" b="0">
                <a:solidFill>
                  <a:srgbClr val="F7FAFD"/>
                </a:solidFill>
                <a:latin typeface="Aptos"/>
              </a:defRPr>
            </a:pPr>
            <a:r>
              <a:t>Prédire la qualification avec le classement final ?</a:t>
            </a:r>
          </a:p>
          <a:p>
            <a:pPr>
              <a:spcAft>
                <a:spcPts val="1700"/>
              </a:spcAft>
              <a:defRPr sz="2400" b="0">
                <a:solidFill>
                  <a:srgbClr val="F7FAFD"/>
                </a:solidFill>
                <a:latin typeface="Aptos"/>
              </a:defRPr>
            </a:pPr>
            <a:r>
              <a:t>99 % de précision ne répare pas une fuite de données.</a:t>
            </a:r>
          </a:p>
          <a:p>
            <a:pPr>
              <a:spcAft>
                <a:spcPts val="1700"/>
              </a:spcAft>
              <a:defRPr sz="2400" b="0">
                <a:solidFill>
                  <a:srgbClr val="F7FAFD"/>
                </a:solidFill>
                <a:latin typeface="Aptos"/>
              </a:defRPr>
            </a:pPr>
            <a:r>
              <a:t>RÈGLE : aucune feature issue du futur ou calculée à partir de la cible.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EXERCICE • 10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Feature admissible ou fuite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Pour prédire un match avant son coup d’envoi :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A. Classement avant le match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B. Nombre de buts marqués dans le match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C. Forme sur les 5 matchs précédents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D. Résultat final du match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E. Cotes publiées avant le match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Classez et justifiez.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Le temps est une variable cachée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A ✓ si calculé avant le match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B ✕ information du match à prédire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C ✓ si historique sans match courant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D ✕ cible déguisée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E ✓ si disponible avant match ; attention à la dépendance au marché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La question : « le saurais-je au moment d’utiliser le modèle ?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Avant le “meilleur modèle”, un point zéro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Classification : classe majoritaire / DummyClassifier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Régression : moyenne / DummyRegressor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Puis modèle simple : régression logistique, arbre, Random Forest selon besoin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Une baseline donne une référence à battre, pas une médaille.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Accuracy ≠ valeur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Jeu : 100 cas, 95 négatifs, 5 positifs.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Un modèle prédit TOUJOURS négatif.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Accuracy = 95 %.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Rappel sur les positifs = 0 %.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Quel résultat raconteriez-vous au client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MÉTRIQUES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Choisir selon le risque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Classification : matrice de confusion, précision, rappel, F1, ROC-AUC / PR-AUC selon contexte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Régression : MAE, RMSE, R²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Toujours : baseline + distribution de la cible + intervalle/incertitude quand possible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La métrique est un choix métier, pas une décoration.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Train / test : ne pas tricher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Séparer AVANT d’apprendre les paramètres de preprocessing.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Le test final ne sert pas à choisir 25 variantes.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Utiliser Pipeline pour imputation/encodage.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Si données temporelles : split chronologique.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Si mêmes joueurs/équipes/personnes répétées : envisager GroupKFold.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DÉMO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Le pipeline qui évite la fuite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1. Identifier X, y et colonnes interdites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2. Choisir split adapté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3. Preprocessing dans un Pipeline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4. DummyClassifier → baseline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5. Modèle simple → comparaison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6. Rapport : métriques + erreurs + limites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PYTHON • SQUELETTE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Baseline reproductible (classification)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0927080" cy="4069080"/>
          </a:xfrm>
          <a:prstGeom prst="roundRect">
            <a:avLst/>
          </a:prstGeom>
          <a:solidFill>
            <a:srgbClr val="18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304288"/>
            <a:ext cx="10332720" cy="3611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F7FAFD"/>
                </a:solidFill>
                <a:latin typeface="Consolas"/>
              </a:defRPr>
            </a:pPr>
            <a:r>
              <a:t>from sklearn.model_selection import train_test_split</a:t>
            </a:r>
          </a:p>
          <a:p>
            <a:pPr>
              <a:spcAft>
                <a:spcPts val="1100"/>
              </a:spcAft>
              <a:defRPr sz="1800" b="0">
                <a:solidFill>
                  <a:srgbClr val="F7FAFD"/>
                </a:solidFill>
                <a:latin typeface="Consolas"/>
              </a:defRPr>
            </a:pPr>
            <a:r>
              <a:t>from sklearn.dummy import DummyClassifier</a:t>
            </a:r>
          </a:p>
          <a:p>
            <a:pPr>
              <a:spcAft>
                <a:spcPts val="1100"/>
              </a:spcAft>
              <a:defRPr sz="1800" b="0">
                <a:solidFill>
                  <a:srgbClr val="F7FAFD"/>
                </a:solidFill>
                <a:latin typeface="Consolas"/>
              </a:defRPr>
            </a:pPr>
            <a:r>
              <a:t>from sklearn.metrics import classification_report</a:t>
            </a:r>
          </a:p>
          <a:p>
            <a:pPr>
              <a:spcAft>
                <a:spcPts val="1100"/>
              </a:spcAft>
              <a:defRPr sz="1800" b="0">
                <a:solidFill>
                  <a:srgbClr val="F7FAFD"/>
                </a:solidFill>
                <a:latin typeface="Consolas"/>
              </a:defRPr>
            </a:pPr>
            <a:endParaRPr/>
          </a:p>
          <a:p>
            <a:pPr>
              <a:spcAft>
                <a:spcPts val="1100"/>
              </a:spcAft>
              <a:defRPr sz="1800" b="0">
                <a:solidFill>
                  <a:srgbClr val="F7FAFD"/>
                </a:solidFill>
                <a:latin typeface="Consolas"/>
              </a:defRPr>
            </a:pPr>
            <a:r>
              <a:t>X_train, X_test, y_train, y_test = train_test_split(</a:t>
            </a:r>
          </a:p>
          <a:p>
            <a:pPr>
              <a:spcAft>
                <a:spcPts val="1100"/>
              </a:spcAft>
              <a:defRPr sz="1800" b="0">
                <a:solidFill>
                  <a:srgbClr val="F7FAFD"/>
                </a:solidFill>
                <a:latin typeface="Consolas"/>
              </a:defRPr>
            </a:pPr>
            <a:r>
              <a:t>    X, y, test_size=0.2, random_state=42, stratify=y)</a:t>
            </a:r>
          </a:p>
          <a:p>
            <a:pPr>
              <a:spcAft>
                <a:spcPts val="1100"/>
              </a:spcAft>
              <a:defRPr sz="1800" b="0">
                <a:solidFill>
                  <a:srgbClr val="F7FAFD"/>
                </a:solidFill>
                <a:latin typeface="Consolas"/>
              </a:defRPr>
            </a:pPr>
            <a:r>
              <a:t>base = DummyClassifier(strategy="most_frequent")</a:t>
            </a:r>
          </a:p>
          <a:p>
            <a:pPr>
              <a:spcAft>
                <a:spcPts val="1100"/>
              </a:spcAft>
              <a:defRPr sz="1800" b="0">
                <a:solidFill>
                  <a:srgbClr val="F7FAFD"/>
                </a:solidFill>
                <a:latin typeface="Consolas"/>
              </a:defRPr>
            </a:pPr>
            <a:r>
              <a:t>base.fit(X_train, y_train)</a:t>
            </a:r>
          </a:p>
          <a:p>
            <a:pPr>
              <a:spcAft>
                <a:spcPts val="1100"/>
              </a:spcAft>
              <a:defRPr sz="1800" b="0">
                <a:solidFill>
                  <a:srgbClr val="F7FAFD"/>
                </a:solidFill>
                <a:latin typeface="Consolas"/>
              </a:defRPr>
            </a:pPr>
            <a:r>
              <a:t>print(classification_report(y_test, base.predict(X_test), zero_division=0))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28CAD0"/>
                </a:solidFill>
              </a:rPr>
              <a:t>LAB COMMUN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3200" b="1">
                <a:solidFill>
                  <a:srgbClr val="F6F9FF"/>
                </a:solidFill>
              </a:rPr>
              <a:t>Ouvrir le notebook de référence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10312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Dans ai-course-student-main :</a:t>
            </a:r>
          </a:p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notebooks/01_python_data_science/</a:t>
            </a:r>
          </a:p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B1_S04_supervised_ml_baseline.ipynb</a:t>
            </a:r>
          </a:p>
          <a:p>
            <a:pPr>
              <a:spcAft>
                <a:spcPts val="1100"/>
              </a:spcAft>
            </a:pPr>
            <a:endParaRPr sz="2000" b="0">
              <a:solidFill>
                <a:srgbClr val="F6F9FF"/>
              </a:solidFill>
            </a:endParaRPr>
          </a:p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1. Ouvrez VS Code / Jupyter dans le dépôt.</a:t>
            </a:r>
          </a:p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2. Choisissez votre environnement Python.</a:t>
            </a:r>
          </a:p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3. Exécutez les cellules DANS L’ORDRE.</a:t>
            </a:r>
          </a:p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4. Notez toute erreur et sa résolution.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27648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000" b="0">
                <a:solidFill>
                  <a:srgbClr val="A7B9D0"/>
                </a:solidFill>
              </a:rPr>
              <a:t>MISSION S3 • ESEO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28CAD0"/>
                </a:solidFill>
              </a:rPr>
              <a:t>IMPORTANT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3200" b="1">
                <a:solidFill>
                  <a:srgbClr val="F6F9FF"/>
                </a:solidFill>
              </a:rPr>
              <a:t>Le notebook utilise Google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10312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2100" b="0">
                <a:solidFill>
                  <a:srgbClr val="F6F9FF"/>
                </a:solidFill>
              </a:rPr>
              <a:t>Ce notebook travaille sur des séries temporelles :</a:t>
            </a:r>
          </a:p>
          <a:p>
            <a:pPr>
              <a:spcAft>
                <a:spcPts val="1100"/>
              </a:spcAft>
            </a:pPr>
            <a:r>
              <a:rPr sz="2100" b="0">
                <a:solidFill>
                  <a:srgbClr val="F6F9FF"/>
                </a:solidFill>
              </a:rPr>
              <a:t>« chatgpt », « iphone », « meteo ».</a:t>
            </a:r>
          </a:p>
          <a:p>
            <a:pPr>
              <a:spcAft>
                <a:spcPts val="1100"/>
              </a:spcAft>
            </a:pPr>
            <a:endParaRPr sz="2100" b="0">
              <a:solidFill>
                <a:srgbClr val="F6F9FF"/>
              </a:solidFill>
            </a:endParaRPr>
          </a:p>
          <a:p>
            <a:pPr>
              <a:spcAft>
                <a:spcPts val="1100"/>
              </a:spcAft>
            </a:pPr>
            <a:r>
              <a:rPr sz="2100" b="0">
                <a:solidFill>
                  <a:srgbClr val="F6F9FF"/>
                </a:solidFill>
              </a:rPr>
              <a:t>Il construit des variables retardées (lag1), une cible pour la semaine suivante et une séparation CHRONOLOGIQUE 80/20.</a:t>
            </a:r>
          </a:p>
          <a:p>
            <a:pPr>
              <a:spcAft>
                <a:spcPts val="1100"/>
              </a:spcAft>
            </a:pPr>
            <a:endParaRPr sz="2100" b="0">
              <a:solidFill>
                <a:srgbClr val="F6F9FF"/>
              </a:solidFill>
            </a:endParaRPr>
          </a:p>
          <a:p>
            <a:pPr>
              <a:spcAft>
                <a:spcPts val="1100"/>
              </a:spcAft>
            </a:pPr>
            <a:r>
              <a:rPr sz="2100" b="0">
                <a:solidFill>
                  <a:srgbClr val="F6F9FF"/>
                </a:solidFill>
              </a:rPr>
              <a:t>On ne mélange PAS les dates au hasard.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27648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000" b="0">
                <a:solidFill>
                  <a:srgbClr val="A7B9D0"/>
                </a:solidFill>
              </a:rPr>
              <a:t>MISSION S3 • ESEO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28CAD0"/>
                </a:solidFill>
              </a:rPr>
              <a:t>CHECKPOINT • 09:45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3200" b="1">
                <a:solidFill>
                  <a:srgbClr val="F6F9FF"/>
                </a:solidFill>
              </a:rPr>
              <a:t>Ça tourne ? Prouvez-le.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10312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✓ Toutes les cellules exécutées sans erreur.</a:t>
            </a:r>
          </a:p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✓ Données chargées : dimensions et colonnes identifiées.</a:t>
            </a:r>
          </a:p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✓ Features et target repérées.</a:t>
            </a:r>
          </a:p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✓ Baseline et modèle exécutés.</a:t>
            </a:r>
          </a:p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✓ Métriques relevées dans une cellule Markdown.</a:t>
            </a:r>
          </a:p>
          <a:p>
            <a:pPr>
              <a:spcAft>
                <a:spcPts val="1100"/>
              </a:spcAft>
            </a:pPr>
            <a:endParaRPr sz="2000" b="0">
              <a:solidFill>
                <a:srgbClr val="F6F9FF"/>
              </a:solidFill>
            </a:endParaRPr>
          </a:p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Si blocage : capture de l’erreur + hypothèse + tentative.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27648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000" b="0">
                <a:solidFill>
                  <a:srgbClr val="A7B9D0"/>
                </a:solidFill>
              </a:rPr>
              <a:t>MISSION S3 • ESEO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28CAD0"/>
                </a:solidFill>
              </a:rPr>
              <a:t>LAB • 10:30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3200" b="1">
                <a:solidFill>
                  <a:srgbClr val="F6F9FF"/>
                </a:solidFill>
              </a:rPr>
              <a:t>Trois expériences, une variable à la fois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10312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A. Modifiez la proportion train/validation (ex. 70/30).</a:t>
            </a:r>
          </a:p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B. Comparez la baseline au modèle.</a:t>
            </a:r>
          </a:p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C. Retirez une variable retardée : que se passe-t-il ?</a:t>
            </a:r>
          </a:p>
          <a:p>
            <a:pPr>
              <a:spcAft>
                <a:spcPts val="1100"/>
              </a:spcAft>
            </a:pPr>
            <a:endParaRPr sz="2000" b="0">
              <a:solidFill>
                <a:srgbClr val="F6F9FF"/>
              </a:solidFill>
            </a:endParaRPr>
          </a:p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Pour chaque test : hypothèse → modification → résultat → interprétation.</a:t>
            </a:r>
          </a:p>
          <a:p>
            <a:pPr>
              <a:spcAft>
                <a:spcPts val="1100"/>
              </a:spcAft>
            </a:pPr>
            <a:endParaRPr sz="2000" b="0">
              <a:solidFill>
                <a:srgbClr val="F6F9FF"/>
              </a:solidFill>
            </a:endParaRPr>
          </a:p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Attention : gardez toujours l’ordre temporel.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27648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000" b="0">
                <a:solidFill>
                  <a:srgbClr val="A7B9D0"/>
                </a:solidFill>
              </a:rPr>
              <a:t>MISSION S3 • ESEO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Prompt 1 — le cadrage, sans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« Tu es reviewer ML. Voici ma question métier, le grain des lignes, les colonnes et 3 observations EDA.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Pose jusqu’à 7 questions bloquantes.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Identifie cible, horizon, features interdites et type de problème.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Ne génère aucun code. Signale tes hypothèses.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Prompt 2 — plan expérimental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« Propose une baseline naïve et un modèle simple.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Justifie split, métriques et preprocessing.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Donne 3 risques de fuite de données.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Énonce les conditions où il faut renoncer à modéliser.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Attends ma validation avant le code.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Prompt 3 — code contrôlable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« Écris un notebook scikit-learn minimal et reproductible.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Utilise Pipeline/ColumnTransformer si nécessaire.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Aucun fit du preprocessing avant le split.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Ajoute assertions, seed, baseline, évaluation test.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Explique chaque cellule et marque les hypothèses non vérifiées.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Prompt 4 — red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« Agis comme auditeur sceptique de mon notebook.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Cherche fuites temporelles, variables post-événement, doublons entre train/test, déséquilibre et métriques mal choisies.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Pour chaque risque : preuve observable, test Python et correction.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Ne déclare pas le modèle fiable sans preuve.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Prompt 5 — restitution honnête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« Rédige une synthèse en 120 mots : question, données, baseline, modèle, métrique, erreurs, limites et décision possible.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Distingue faits observés, hypothèses et extrapolations.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Ne présente pas corrélation comme causalité.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ATELIER •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Prompt battle : naïf vs structuré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1. Même dataset, même objectif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2. Groupe A : prompt vague ; groupe B : prompt QUID + contraintes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3. Comparez les propositions : cible, split, métrique, leakage, baseline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4. Notez les décisions inventées par l’IA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5. Produisez une meilleure version commune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CORRECTION ATTENDUE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Le bon prompt n’est pas le plus 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Il fixe le contexte et le moment de prédiction.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Il demande des questions avant du code.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Il impose baseline et stratégie de validation.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Il oblige à expliciter les hypothèses.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Il exige des tests observables, pas une assurance verbale.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28CAD0"/>
                </a:solidFill>
              </a:rPr>
              <a:t>PROMPTING • 11:00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3200" b="1">
                <a:solidFill>
                  <a:srgbClr val="F6F9FF"/>
                </a:solidFill>
              </a:rPr>
              <a:t>L’IA doit expliquer AVANT de 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10312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0">
                <a:solidFill>
                  <a:srgbClr val="F6F9FF"/>
                </a:solidFill>
              </a:rPr>
              <a:t>« Je travaille sur un notebook de classification de séries temporelles Google Trends. La cible est l’intérêt élevé pour ChatGPT la semaine suivante.</a:t>
            </a:r>
          </a:p>
          <a:p>
            <a:pPr>
              <a:spcAft>
                <a:spcPts val="1100"/>
              </a:spcAft>
            </a:pPr>
            <a:endParaRPr sz="1800" b="0">
              <a:solidFill>
                <a:srgbClr val="F6F9FF"/>
              </a:solidFill>
            </a:endParaRPr>
          </a:p>
          <a:p>
            <a:pPr>
              <a:spcAft>
                <a:spcPts val="1100"/>
              </a:spcAft>
            </a:pPr>
            <a:r>
              <a:rPr sz="1800" b="0">
                <a:solidFill>
                  <a:srgbClr val="F6F9FF"/>
                </a:solidFill>
              </a:rPr>
              <a:t>Avant de proposer du code : explique les risques de fuite temporelle, la baseline, le split chronologique et les métriques. Propose UNE expérience testable. Indique comment vérifier que tu as raison.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27648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000" b="0">
                <a:solidFill>
                  <a:srgbClr val="A7B9D0"/>
                </a:solidFill>
              </a:rPr>
              <a:t>MISSION S3 • ESEO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MISSION 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Checkpoint 1 — Choisir une question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Livrable : PROJECT_CHARTER.md (1 page max)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• Question et décision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• Unité, population, horizon de prédiction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• Target + features candidates + colonnes interdites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• Type de problème, baseline, métrique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• Pourquoi ces données permettent / ne permettent pas ce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28CAD0"/>
                </a:solidFill>
              </a:rPr>
              <a:t>MISSION • 13:50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3200" b="1">
                <a:solidFill>
                  <a:srgbClr val="F6F9FF"/>
                </a:solidFill>
              </a:rPr>
              <a:t>Votre dataset : un modèle défendable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10312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1. Relire l’EDA et définir UNE question prédictive.</a:t>
            </a:r>
          </a:p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2. Identifier la target, les features et le moment de prédiction.</a:t>
            </a:r>
          </a:p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3. Faire valider le plan par le groupe, puis interroger l’IA.</a:t>
            </a:r>
          </a:p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4. Implémenter une baseline + un modèle simple.</a:t>
            </a:r>
          </a:p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5. Comparer sur des données non vues.</a:t>
            </a:r>
          </a:p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6. Écrire limites et décision 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27648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000" b="0">
                <a:solidFill>
                  <a:srgbClr val="A7B9D0"/>
                </a:solidFill>
              </a:rPr>
              <a:t>MISSION S3 • ESEO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MISSION 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Checkpoint 2 — Exécuter une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Livrable : MODEL_BASELINE.ipynb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• Chargement et vérification des données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• Split adapté, sans fuite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• Dummy baseline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• Un modèle simple si possible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• Évaluation et analyse d’au moins 3 erreurs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• Résultats reproductibles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MISSION 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Checkpoint 3 — Auditer l’IA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Livrable : PROMPT_LOG.md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• Prompt initial et réponse résumée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• Prompt amélioré et changement obtenu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• Une erreur / hypothèse de l’IA identifiée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• Le test qui confirme ou infirme cette hypothèse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• Conclusion : ce que vous gardez, ce que vous rejetez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TRAVAIL D’ÉQUIPE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Quatre rôles, un seul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1. Product / QUID : question, décision, livrables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2. Data : qualité, grain, features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3. ML : split, pipeline, baseline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4. Reviewer : fuite, métriques, prompts, restitution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Chacun contribue au Git. Tous savent défendre les résultats.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28CAD0"/>
                </a:solidFill>
              </a:rPr>
              <a:t>TRAVAIL D’ÉQUIPE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3200" b="1">
                <a:solidFill>
                  <a:srgbClr val="F6F9FF"/>
                </a:solidFill>
              </a:rPr>
              <a:t>4 rôles — participation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10312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CADRAGE : cible, unité, question, décision.</a:t>
            </a:r>
          </a:p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DATA : qualité, features, risques de fuite.</a:t>
            </a:r>
          </a:p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ML : baseline, split, modèle, métriques.</a:t>
            </a:r>
          </a:p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AUDIT : prompts, vérification, narration.</a:t>
            </a:r>
          </a:p>
          <a:p>
            <a:pPr>
              <a:spcAft>
                <a:spcPts val="1100"/>
              </a:spcAft>
            </a:pPr>
            <a:endParaRPr sz="2000" b="0">
              <a:solidFill>
                <a:srgbClr val="F6F9FF"/>
              </a:solidFill>
            </a:endParaRPr>
          </a:p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Chaque membre contribue au dépôt et peut expliquer le modèle entier.</a:t>
            </a:r>
          </a:p>
          <a:p>
            <a:pPr>
              <a:spcAft>
                <a:spcPts val="1100"/>
              </a:spcAft>
            </a:pPr>
            <a:r>
              <a:rPr sz="2000" b="0">
                <a:solidFill>
                  <a:srgbClr val="F6F9FF"/>
                </a:solidFill>
              </a:rPr>
              <a:t>Rotation des rôles au prochain cours.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27648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000" b="0">
                <a:solidFill>
                  <a:srgbClr val="A7B9D0"/>
                </a:solidFill>
              </a:rPr>
              <a:t>MISSION S3 • ESEO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000" b="1">
                <a:solidFill>
                  <a:srgbClr val="F7FAFD"/>
                </a:solidFill>
                <a:latin typeface="Aptos"/>
              </a:defRPr>
            </a:pPr>
            <a:r>
              <a:t>Une preuve de collaboration, pas quatre fichiers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Branches courtes ou commits réguliers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Pull request ou revue croisée avant merge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README : état du projet, commandes, limites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Un seul notebook final lisible, pas 4 versions contradictoires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Ne jamais committer secrets ni données sensibles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PAUSE MÉTHODO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Quand NE PAS faire du ML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Pas de cible pertinente ? Pas de données fiables ?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Fuite impossible à éviter ? Trop peu d’exemples ?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Décision non définie ? Coût d’erreur non acceptable ?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Alors : produire une EDA solide et un plan de collecte est une réussite scientifique.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28CAD0"/>
                </a:solidFill>
              </a:rPr>
              <a:t>PLAN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3200" b="1">
                <a:solidFill>
                  <a:srgbClr val="F6F9FF"/>
                </a:solidFill>
              </a:rPr>
              <a:t>Et si votre dataset ne permet pas le ML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10312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900" b="0">
                <a:solidFill>
                  <a:srgbClr val="F6F9FF"/>
                </a:solidFill>
              </a:rPr>
              <a:t>Ne fabriquez pas une target artificielle pour « faire du ML ».</a:t>
            </a:r>
          </a:p>
          <a:p>
            <a:pPr>
              <a:spcAft>
                <a:spcPts val="1100"/>
              </a:spcAft>
            </a:pPr>
            <a:endParaRPr sz="1900" b="0">
              <a:solidFill>
                <a:srgbClr val="F6F9FF"/>
              </a:solidFill>
            </a:endParaRPr>
          </a:p>
          <a:p>
            <a:pPr>
              <a:spcAft>
                <a:spcPts val="1100"/>
              </a:spcAft>
            </a:pPr>
            <a:r>
              <a:rPr sz="1900" b="0">
                <a:solidFill>
                  <a:srgbClr val="F6F9FF"/>
                </a:solidFill>
              </a:rPr>
              <a:t>Option 1 : revenir au cadrage et expliciter les données manquantes.</a:t>
            </a:r>
          </a:p>
          <a:p>
            <a:pPr>
              <a:spcAft>
                <a:spcPts val="1100"/>
              </a:spcAft>
            </a:pPr>
            <a:r>
              <a:rPr sz="1900" b="0">
                <a:solidFill>
                  <a:srgbClr val="F6F9FF"/>
                </a:solidFill>
              </a:rPr>
              <a:t>Option 2 : réaliser une baseline descriptive honnête.</a:t>
            </a:r>
          </a:p>
          <a:p>
            <a:pPr>
              <a:spcAft>
                <a:spcPts val="1100"/>
              </a:spcAft>
            </a:pPr>
            <a:r>
              <a:rPr sz="1900" b="0">
                <a:solidFill>
                  <a:srgbClr val="F6F9FF"/>
                </a:solidFill>
              </a:rPr>
              <a:t>Option 3 : travailler le notebook B1_S04 et documenter comment votre projet pourrait devenir prédictif.</a:t>
            </a:r>
          </a:p>
          <a:p>
            <a:pPr>
              <a:spcAft>
                <a:spcPts val="1100"/>
              </a:spcAft>
            </a:pPr>
            <a:endParaRPr sz="1900" b="0">
              <a:solidFill>
                <a:srgbClr val="F6F9FF"/>
              </a:solidFill>
            </a:endParaRPr>
          </a:p>
          <a:p>
            <a:pPr>
              <a:spcAft>
                <a:spcPts val="1100"/>
              </a:spcAft>
            </a:pPr>
            <a:r>
              <a:rPr sz="1900" b="0">
                <a:solidFill>
                  <a:srgbClr val="F6F9FF"/>
                </a:solidFill>
              </a:rPr>
              <a:t>Une impossibilité bien justifiée vaut mieux qu’un score inventé.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27648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000" b="0">
                <a:solidFill>
                  <a:srgbClr val="A7B9D0"/>
                </a:solidFill>
              </a:rPr>
              <a:t>MISSION S3 • ESEO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ATELIER • 75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Votre dataset, votre premier modèle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0–15 min : cadrage QUID et prompt 1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15–30 min : baseline et split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30–55 min : modèle simple + métriques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55–65 min : audit prompt 4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65–75 min : préparer une restitution de 90 secondes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RESTITUTION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90 secondes pour convaincre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« Nous voulions prédire … avant … »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« Une ligne représente … »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« Notre baseline obtient … ; notre modèle … »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« Notre métrique est … parce que … »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« Le principal risque est … ; nous l’avons testé ainsi … »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« Nous recommandons / ne recommandons pas …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GRILLE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Comment je vous évalue aujourd’hui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Question &amp; grain explicites — 20 %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Split, absence de fuite &amp; baseline — 30 %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Métriques et interprétation — 20 %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Audit de l’IA &amp; qualité des prompts — 20 %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Traçabilité Git &amp; contribution collective — 10 %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Si vous avez 99 % : votre travail commence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1. Vérifier fuite et doublons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2. Comparer au Dummy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3. Vérifier équilibre des classes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4. Regarder les erreurs par sous-groupe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5. Tester un split plus réaliste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6. Refaire l’expérience avec seed et protocole figés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28CAD0"/>
                </a:solidFill>
              </a:rPr>
              <a:t>RENDU • 16:45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3200" b="1">
                <a:solidFill>
                  <a:srgbClr val="F6F9FF"/>
                </a:solidFill>
              </a:rPr>
              <a:t>Ce que je veux voir dans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10312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900" b="0">
                <a:solidFill>
                  <a:srgbClr val="F6F9FF"/>
                </a:solidFill>
              </a:rPr>
              <a:t>□ EDA.ipynb actualisé si nécessaire</a:t>
            </a:r>
          </a:p>
          <a:p>
            <a:pPr>
              <a:spcAft>
                <a:spcPts val="1100"/>
              </a:spcAft>
            </a:pPr>
            <a:r>
              <a:rPr sz="1900" b="0">
                <a:solidFill>
                  <a:srgbClr val="F6F9FF"/>
                </a:solidFill>
              </a:rPr>
              <a:t>□ ML_baseline.ipynb reproductible (ou justification du plan B)</a:t>
            </a:r>
          </a:p>
          <a:p>
            <a:pPr>
              <a:spcAft>
                <a:spcPts val="1100"/>
              </a:spcAft>
            </a:pPr>
            <a:r>
              <a:rPr sz="1900" b="0">
                <a:solidFill>
                  <a:srgbClr val="F6F9FF"/>
                </a:solidFill>
              </a:rPr>
              <a:t>□ Question, cible, features et stratégie de split</a:t>
            </a:r>
          </a:p>
          <a:p>
            <a:pPr>
              <a:spcAft>
                <a:spcPts val="1100"/>
              </a:spcAft>
            </a:pPr>
            <a:r>
              <a:rPr sz="1900" b="0">
                <a:solidFill>
                  <a:srgbClr val="F6F9FF"/>
                </a:solidFill>
              </a:rPr>
              <a:t>□ Baseline, modèle, métriques et limites</a:t>
            </a:r>
          </a:p>
          <a:p>
            <a:pPr>
              <a:spcAft>
                <a:spcPts val="1100"/>
              </a:spcAft>
            </a:pPr>
            <a:r>
              <a:rPr sz="1900" b="0">
                <a:solidFill>
                  <a:srgbClr val="F6F9FF"/>
                </a:solidFill>
              </a:rPr>
              <a:t>□ Deux prompts et critique des réponses</a:t>
            </a:r>
          </a:p>
          <a:p>
            <a:pPr>
              <a:spcAft>
                <a:spcPts val="1100"/>
              </a:spcAft>
            </a:pPr>
            <a:r>
              <a:rPr sz="1900" b="0">
                <a:solidFill>
                  <a:srgbClr val="F6F9FF"/>
                </a:solidFill>
              </a:rPr>
              <a:t>□ Contributions identifiables + README mis à jour</a:t>
            </a:r>
          </a:p>
          <a:p>
            <a:pPr>
              <a:spcAft>
                <a:spcPts val="1100"/>
              </a:spcAft>
            </a:pPr>
            <a:endParaRPr sz="1900" b="0">
              <a:solidFill>
                <a:srgbClr val="F6F9FF"/>
              </a:solidFill>
            </a:endParaRPr>
          </a:p>
          <a:p>
            <a:pPr>
              <a:spcAft>
                <a:spcPts val="1100"/>
              </a:spcAft>
            </a:pPr>
            <a:r>
              <a:rPr sz="1900" b="0">
                <a:solidFill>
                  <a:srgbClr val="F6F9FF"/>
                </a:solidFill>
              </a:rPr>
              <a:t>Pitch : 90 secondes par groupe.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27648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000" b="0">
                <a:solidFill>
                  <a:srgbClr val="A7B9D0"/>
                </a:solidFill>
              </a:rPr>
              <a:t>MISSION S3 • ESEO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Avant de rendre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□ Question, unité, horizon explicites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□ Target et features autorisées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□ Split justifié et preprocessing dans pipeline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□ Baseline et métriques comparées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□ Erreurs/limites discutées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□ Prompt log + audit + commits visibles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POUR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S4 : améliorer sans tricher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10744200" cy="4160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Feature engineering • cross-validation • hyperparamètres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Comparaison de modèles • interprétabilité • robustesse</a:t>
            </a:r>
          </a:p>
          <a:p>
            <a:pPr>
              <a:spcAft>
                <a:spcPts val="1100"/>
              </a:spcAft>
              <a:defRPr sz="2100" b="0">
                <a:solidFill>
                  <a:srgbClr val="F7FAFD"/>
                </a:solidFill>
                <a:latin typeface="Aptos"/>
              </a:defRPr>
            </a:pPr>
            <a:r>
              <a:t>Et toujours : « Qu’est-ce qui change pour la décision ?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1FCBCC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3500" b="1">
                <a:solidFill>
                  <a:srgbClr val="F7FAFD"/>
                </a:solidFill>
                <a:latin typeface="Aptos"/>
              </a:defRPr>
            </a:pPr>
            <a:r>
              <a:t>THE MODEL IS NOT THE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560320"/>
            <a:ext cx="10789920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700"/>
              </a:spcAft>
              <a:defRPr sz="2500" b="1">
                <a:solidFill>
                  <a:srgbClr val="F7FAFD"/>
                </a:solidFill>
                <a:latin typeface="Aptos"/>
              </a:defRPr>
            </a:pPr>
            <a:r>
              <a:t>A model is a hypothesis in executable form.</a:t>
            </a:r>
          </a:p>
          <a:p>
            <a:pPr>
              <a:spcAft>
                <a:spcPts val="1700"/>
              </a:spcAft>
              <a:defRPr sz="2500" b="1">
                <a:solidFill>
                  <a:srgbClr val="F7FAFD"/>
                </a:solidFill>
                <a:latin typeface="Aptos"/>
              </a:defRPr>
            </a:pPr>
            <a:r>
              <a:t>A score is evidence — not a decision.</a:t>
            </a:r>
          </a:p>
          <a:p>
            <a:pPr>
              <a:spcAft>
                <a:spcPts val="1700"/>
              </a:spcAft>
              <a:defRPr sz="2500" b="1">
                <a:solidFill>
                  <a:srgbClr val="F7FAFD"/>
                </a:solidFill>
                <a:latin typeface="Aptos"/>
              </a:defRPr>
            </a:pPr>
            <a:r>
              <a:t>An AI answer is a proposal — not a proof.</a:t>
            </a:r>
          </a:p>
          <a:p>
            <a:pPr>
              <a:spcAft>
                <a:spcPts val="1700"/>
              </a:spcAft>
              <a:defRPr sz="2500" b="1">
                <a:solidFill>
                  <a:srgbClr val="F7FAFD"/>
                </a:solidFill>
                <a:latin typeface="Aptos"/>
              </a:defRPr>
            </a:pPr>
            <a:endParaRPr/>
          </a:p>
          <a:p>
            <a:pPr>
              <a:spcAft>
                <a:spcPts val="1700"/>
              </a:spcAft>
              <a:defRPr sz="2500" b="1">
                <a:solidFill>
                  <a:srgbClr val="F7FAFD"/>
                </a:solidFill>
                <a:latin typeface="Aptos"/>
              </a:defRPr>
            </a:pPr>
            <a:r>
              <a:t>WHAT’S THE QUID BEFORE YOU CODE?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6520"/>
            <a:ext cx="100584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ACBECF"/>
                </a:solidFill>
                <a:latin typeface="Aptos"/>
              </a:defRPr>
            </a:pPr>
            <a:r>
              <a:t>Python for Data Science  •  ESEO  •  S3  •  AI-assisted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  <a:defRPr sz="1000" b="1">
                <a:solidFill>
                  <a:srgbClr val="1FCBCC"/>
                </a:solidFill>
                <a:latin typeface="Aptos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3707</Words>
  <Application>Microsoft Macintosh PowerPoint</Application>
  <PresentationFormat>Grand écran</PresentationFormat>
  <Paragraphs>507</Paragraphs>
  <Slides>48</Slides>
  <Notes>38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48</vt:i4>
      </vt:variant>
    </vt:vector>
  </HeadingPairs>
  <TitlesOfParts>
    <vt:vector size="53" baseType="lpstr">
      <vt:lpstr>Aptos</vt:lpstr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2026-10-18T18:14:55Z</dcterms:modified>
  <cp:category/>
</cp:coreProperties>
</file>