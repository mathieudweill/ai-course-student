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93" r:id="rId45"/>
    <p:sldId id="294" r:id="rId46"/>
    <p:sldId id="295" r:id="rId47"/>
    <p:sldId id="296" r:id="rId48"/>
    <p:sldId id="297" r:id="rId49"/>
    <p:sldId id="298" r:id="rId50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44.xml"/><Relationship Id="rId29" Type="http://schemas.openxmlformats.org/officeDocument/2006/relationships/slide" Target="slides/slide45.xml"/><Relationship Id="rId30" Type="http://schemas.openxmlformats.org/officeDocument/2006/relationships/slide" Target="slides/slide46.xml"/><Relationship Id="rId31" Type="http://schemas.openxmlformats.org/officeDocument/2006/relationships/slide" Target="slides/slide47.xml"/><Relationship Id="rId32" Type="http://schemas.openxmlformats.org/officeDocument/2006/relationships/slide" Target="slides/slide48.xml"/><Relationship Id="rId33" Type="http://schemas.openxmlformats.org/officeDocument/2006/relationships/slide" Target="slides/slide49.xml"/><Relationship Id="rId34" Type="http://schemas.openxmlformats.org/officeDocument/2006/relationships/slide" Target="slides/slide50.xml"/><Relationship Id="rId35" Type="http://schemas.openxmlformats.org/officeDocument/2006/relationships/slide" Target="slides/slide51.xml"/><Relationship Id="rId36" Type="http://schemas.openxmlformats.org/officeDocument/2006/relationships/slide" Target="slides/slide52.xml"/><Relationship Id="rId37" Type="http://schemas.openxmlformats.org/officeDocument/2006/relationships/slide" Target="slides/slide53.xml"/><Relationship Id="rId38" Type="http://schemas.openxmlformats.org/officeDocument/2006/relationships/slide" Target="slides/slide54.xml"/><Relationship Id="rId39" Type="http://schemas.openxmlformats.org/officeDocument/2006/relationships/slide" Target="slides/slide55.xml"/><Relationship Id="rId40" Type="http://schemas.openxmlformats.org/officeDocument/2006/relationships/slide" Target="slides/slide56.xml"/><Relationship Id="rId41" Type="http://schemas.openxmlformats.org/officeDocument/2006/relationships/slide" Target="slides/slide57.xml"/><Relationship Id="rId42" Type="http://schemas.openxmlformats.org/officeDocument/2006/relationships/slide" Target="slides/slide58.xml"/><Relationship Id="rId43" Type="http://schemas.openxmlformats.org/officeDocument/2006/relationships/slide" Target="slides/slide59.xml"/><Relationship Id="rId44" Type="http://schemas.openxmlformats.org/officeDocument/2006/relationships/slide" Target="slides/slide60.xml"/><Relationship Id="rId45" Type="http://schemas.openxmlformats.org/officeDocument/2006/relationships/slide" Target="slides/slide10.xml"/><Relationship Id="rId46" Type="http://schemas.openxmlformats.org/officeDocument/2006/relationships/slide" Target="slides/slide11.xml"/><Relationship Id="rId47" Type="http://schemas.openxmlformats.org/officeDocument/2006/relationships/slide" Target="slides/slide12.xml"/><Relationship Id="rId48" Type="http://schemas.openxmlformats.org/officeDocument/2006/relationships/slide" Target="slides/slide13.xml"/><Relationship Id="rId49" Type="http://schemas.openxmlformats.org/officeDocument/2006/relationships/slide" Target="slides/slide14.xml"/><Relationship Id="rId50" Type="http://schemas.openxmlformats.org/officeDocument/2006/relationships/slide" Target="slides/slide15.xml"/><Relationship Id="rId51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4" Type="http://schemas.openxmlformats.org/officeDocument/2006/relationships/slide" Target="slides/slide30.xml"/><Relationship Id="rId55" Type="http://schemas.openxmlformats.org/officeDocument/2006/relationships/slide" Target="slides/slide31.xml"/><Relationship Id="rId56" Type="http://schemas.openxmlformats.org/officeDocument/2006/relationships/slide" Target="slides/slide32.xml"/><Relationship Id="rId57" Type="http://schemas.openxmlformats.org/officeDocument/2006/relationships/slide" Target="slides/slide33.xml"/><Relationship Id="rId58" Type="http://schemas.openxmlformats.org/officeDocument/2006/relationships/slide" Target="slides/slide34.xml"/><Relationship Id="rId59" Type="http://schemas.openxmlformats.org/officeDocument/2006/relationships/slide" Target="slides/slide35.xml"/><Relationship Id="rId60" Type="http://schemas.openxmlformats.org/officeDocument/2006/relationships/slide" Target="slides/slide36.xml"/><Relationship Id="rId61" Type="http://schemas.openxmlformats.org/officeDocument/2006/relationships/slide" Target="slides/slide37.xml"/><Relationship Id="rId62" Type="http://schemas.openxmlformats.org/officeDocument/2006/relationships/slide" Target="slides/slide38.xml"/><Relationship Id="rId63" Type="http://schemas.openxmlformats.org/officeDocument/2006/relationships/slide" Target="slides/slide39.xml"/><Relationship Id="rId64" Type="http://schemas.openxmlformats.org/officeDocument/2006/relationships/slide" Target="slides/slide40.xml"/><Relationship Id="rId65" Type="http://schemas.openxmlformats.org/officeDocument/2006/relationships/slide" Target="slides/slide41.xml"/><Relationship Id="rId66" Type="http://schemas.openxmlformats.org/officeDocument/2006/relationships/slide" Target="slides/slide42.xml"/><Relationship Id="rId67" Type="http://schemas.openxmlformats.org/officeDocument/2006/relationships/slide" Target="slides/slide43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: demander qui a déjà un modèle exécuté et qui est encore bloqué.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S4 · ATELIER DÉCISIF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FROM QUESTION TO WORKING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Aujourd’hui : une question faisable. Une cible définie. Une baseline. Un modèle exécuté. Une métrique défendable.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THE AI CAN WRITE CODE.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YOU OWN THE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CONTRAT DE SÉANCE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À 17h15 : chaque groupe a un résultat qui tourne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MINIMUM COMMUN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1. Une question de prédiction précise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2. Une cible y et des variables X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3. Un split justifié (train/test)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4. Un DummyClassifier/Regressor + un modèle simple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5. Une métrique, une limite, un commit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Pas de concours de score.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 modèle faible mais valide &gt; un score spectaculaire truqué.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HORAIRES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Une journée construite pour débloquer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75688"/>
            <a:ext cx="1078992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331720"/>
            <a:ext cx="10186416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08h05–08h35  Diagnostic : vos EDA et vos questions</a:t>
            </a:r>
          </a:p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08h35–09h25  Question → cible → type de problème</a:t>
            </a:r>
          </a:p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09h25–10h20  Données → split → pipeline → modèle</a:t>
            </a:r>
          </a:p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10h20–11h05  Atelier : cadrage + choix du modèle</a:t>
            </a:r>
          </a:p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11h05–11h50  Premier run et checkpoint n°1</a:t>
            </a:r>
          </a:p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11h50–13h50  PAUSE DÉJEUNER</a:t>
            </a:r>
          </a:p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13h50–15h20  Construction en groupes</a:t>
            </a:r>
          </a:p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15h20–16h30  Debug, métriques et audit</a:t>
            </a:r>
          </a:p>
          <a:p>
            <a:pPr>
              <a:spcAft>
                <a:spcPts val="700"/>
              </a:spcAft>
              <a:defRPr sz="21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16h30–17h15  Démonstrations + livrables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BRISE-GLACE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« Quel est le résultat que vous voulez prédire ?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Tour de table express : 45 secondes par groupe.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Votre dataset représente quoi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Une ligne = quoi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Quelle décision voulez-vous éclairer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Que connaissez-vous AVANT cette décision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Réponse floue ?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Ne codez pas encore.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Reformulez la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QUID EN 90 SECONDES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Un modèle n’est pas une question métier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 — Question : quelle décision doit être améliorée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 — Unité : une ligne représente quoi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I — Indicateur : quelle variable mesure le résultat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 — Décision : que fera-t-on avec la prédiction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EXEMPLE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Étudier la Champions League » ≠ question.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Prédire une victoire avant le match » = question testable.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LES QUATRE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Une bonne question de ML doit être…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1. PRÉCISE : « prédire quoi, pour qui, à quel moment ? »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2. MESURABLE : la cible est présente ou reconstructible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3. NON TRICHÉE : les variables existent au moment de prédire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4. ÉVALUABLE : assez d’observations, une baseline possible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une condition manque, reformuler la question — pas changer d’algorithme.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TROIS FAMILLES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Choisir le problème avant l’algorithme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CLASSIFICATION : une catégorie (victoire / défaite, spam / non-spam)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RÉGRESSION : une quantité (prix, buts, consommation)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NON SUPERVISÉ : pas de cible y ; on explore des groupes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Aujourd’hui : priorité au supervisé.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Clustering = parcours alternatif justifié, pas classification déguisée.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CHAMPIONS LEAGUE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Question impossible ou question prédictive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TROP VAGUE : « Qu’est-ce qui fait gagner la Champions League ? »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FAISABLE : « Avant le match, l’équipe à domicile gagnera-t-elle ? »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UNITÉ : un match. CIBLE : victoire domicile (0/1).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FEATURES POSSIBLES : Elo pré-match, domicile, forme récente.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INTERDIT : score final, classement de fin de saison, statistiques produites pendant le match.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SIMPSON &amp; FOOTBALL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Pourquoi le contexte change la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Équipe A : 90 % contre les faibles ; 20 % contre les forts.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Équipe B : 80 % contre les faibles ; 10 % contre les forts.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 est meilleure dans chaque catégorie…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… mais B peut sembler meilleure au total si elle affronte surtout des équipes faibles.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FEATURE ENGINEERING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Ajouter la force de l’adversaire, mesurée AVANT le match.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CAS 2 · CINÉMA 1997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2600">
                <a:solidFill>
                  <a:srgbClr val="13576F"/>
                </a:solidFill>
                <a:latin typeface="Aptos"/>
              </a:rPr>
              <a:t>Peut-on prédire les goûts selon le profil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Aptos"/>
              </a:rPr>
              <a:t>QUESTION : « À partir du profil d’une personne, peut-on prédire si elle aimera un film ? »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UNITÉ : une note donnée par une personne à un film.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CIBLE : aimé (note ≥ 4/5) = 1 ; sinon = 0.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FEATURES : genre du film, âge, genre déclaré, profession de la personne (si disponibles).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MODÈLE : DummyClassifier → LogisticRegression.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Aptos"/>
              </a:rPr>
              <a:t>IMPORTANT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« Films de 1997 » est un filtre sur l’année de sortie, pas une variable à prédire.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Exemple de projet ; pas de résultats inventés.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PYTHON FOR DATA SCIENCE  •  ESEO  •  QUESTION → MODÈLE  •  CAS PRATIQUE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CAS 2 · CINÉMA 1997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2600">
                <a:solidFill>
                  <a:srgbClr val="13576F"/>
                </a:solidFill>
                <a:latin typeface="Aptos"/>
              </a:rPr>
              <a:t>Attention : ce que le dataset sait vraiment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Aptos"/>
              </a:rPr>
              <a:t>UNE LIGNE = une interaction personne × film.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Une personne peut noter plusieurs films ; un film peut être noté par plusieurs personnes.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Le genre d’un film peut être multiple : action + comédie → encodage multi-label.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Le sexe/genre déclaré n’explique pas « naturellement » les goûts : mesurer les écarts, ne pas essentialiser.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Les notes manquantes ne veulent pas dire « détesté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Aptos"/>
              </a:rPr>
              <a:t>PIÈGE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Split aléatoire par note ≠ capacité à prédire pour un NOUVEL utilisateur.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Choisir le scénario : utilisateurs connus ou inconnus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PYTHON FOR DATA SCIENCE  •  ESEO  •  QUESTION → MODÈLE  •  CAS PRATIQUE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CAS 2 · CINÉMA 1997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2600">
                <a:solidFill>
                  <a:srgbClr val="13576F"/>
                </a:solidFill>
                <a:latin typeface="Aptos"/>
              </a:rPr>
              <a:t>Quel test rend le modèle crédible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Aptos"/>
              </a:rPr>
              <a:t>TEST 1 : baseline « toujours aimé » ou fréquence globale.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TEST 2 : modèle avec genres de films seulement.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TEST 3 : modèle avec genres + profil utilisateur.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COMPARER : balanced accuracy, F1 et matrice de confusion.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POUR ALLER PLUS LOIN : séparer les utilisateurs (GroupShuffleSplit) si on prétend généraliser à des personnes inconnues.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Aptos"/>
              </a:rPr>
              <a:t>QUESTION À LA CLASSE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Le profil améliore-t-il vraiment la prédiction ?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Si oui, de combien ?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Quels risques de stéréotypes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PYTHON FOR DATA SCIENCE  •  ESEO  •  QUESTION → MODÈLE  •  CAS PRATIQUE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CAS 3 · EMPLOI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2600">
                <a:solidFill>
                  <a:srgbClr val="13576F"/>
                </a:solidFill>
                <a:latin typeface="Aptos"/>
              </a:rPr>
              <a:t>Peut-on estimer une rémunération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Aptos"/>
              </a:rPr>
              <a:t>QUESTION : « Quel salaire annuel brut une offre data annonce-t-elle ? »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UNITÉ : une offre d’emploi datée et localisée.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CIBLE : salaire annuel brut en € (si renseigné).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FEATURES : intitulé, séniorité, localisation, télétravail, compétences, type de contrat.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MODÈLE : DummyRegressor → Ridge / RandomForestRegressor.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Aptos"/>
              </a:rPr>
              <a:t>ATTENTION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Ce cas est une RÉGRESSION : on prédit un nombre.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Les annonces sans salaire ne doivent pas recevoir artificiellement 0 €.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PYTHON FOR DATA SCIENCE  •  ESEO  •  QUESTION → MODÈLE  •  CAS PRATIQUE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CAS 3 · EMPLOI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2600">
                <a:solidFill>
                  <a:srgbClr val="13576F"/>
                </a:solidFill>
                <a:latin typeface="Aptos"/>
              </a:rPr>
              <a:t>Le nettoyage est la moitié du travail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Aptos"/>
              </a:rPr>
              <a:t>« 45–55 k€ » → choisir une convention documentée (ex. milieu 50 k€).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« 500 €/jour » ≠ salaire annuel : TJM freelance à traiter séparément.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Brut/net, annuel/mensuel, France/étranger : ne pas mélanger.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Dédupliquer les annonces republiées.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Les salaires absents ne sont probablement pas manquants au hasard.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Aptos"/>
              </a:rPr>
              <a:t>QUESTION À LA CLASSE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Une offre à Paris et une à Niort : même métier, même salaire attendu ?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Et « Data Analyst » vs « ML Engineer »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PYTHON FOR DATA SCIENCE  •  ESEO  •  QUESTION → MODÈLE  •  CAS PRATIQUE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CAS 3 · EMPLOI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2600">
                <a:solidFill>
                  <a:srgbClr val="13576F"/>
                </a:solidFill>
                <a:latin typeface="Aptos"/>
              </a:rPr>
              <a:t>Un modèle utile, même s’il se trompe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Aptos"/>
              </a:rPr>
              <a:t>BASELINE : prédire le salaire médian du train.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SPLIT : chronologique si l’objectif est de prédire de nouvelles offres.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MÉTRIQUE : MAE en euros (« erreur moyenne de 4 500 € »).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COMPARER : titre seul → titre + ville → + compétences.</a:t>
            </a:r>
          </a:p>
          <a:p>
            <a:r>
              <a:rPr sz="1500">
                <a:solidFill>
                  <a:srgbClr val="FFFFFF"/>
                </a:solidFill>
                <a:latin typeface="Aptos"/>
              </a:rPr>
              <a:t>AUDIT : le salaire ne doit pas se retrouver dans les features via le texte brut de l’annonce 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Aptos"/>
              </a:rPr>
              <a:t>DÉFI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Le modèle apprend-il le marché du travail…</a:t>
            </a:r>
          </a:p>
          <a:p>
            <a:r>
              <a:rPr sz="1400">
                <a:solidFill>
                  <a:srgbClr val="FFFFFF"/>
                </a:solidFill>
                <a:latin typeface="Aptos"/>
              </a:rPr>
              <a:t>ou seulement les fourchettes écrites dans les annonces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200">
                <a:solidFill>
                  <a:srgbClr val="13576F"/>
                </a:solidFill>
                <a:latin typeface="Aptos"/>
              </a:rPr>
              <a:t>PYTHON FOR DATA SCIENCE  •  ESEO  •  QUESTION → MODÈLE  •  CAS PRATIQUE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FAITES LE 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Quelle variable n’a pas le droit d’entrer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Pour prédire le vainqueur AVANT le coup d’envoi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A. Elo de la veille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B. Classement connu la veille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C. Nombre de tirs cadrés pendant le match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D. Résultat de la rencontre précédente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E. Différence de buts finale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À vous : identifier les fuites et expliquer POURQUOI.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Correction : C et 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CIBLE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Écrivez y, puis seulement 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y = la réponse que vous cherchez à prédire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X = les informations disponibles au moment utile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ligne = une observation cohérente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Exemple : y = prix d’un logement ; X = surface, ville, pièces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la cible est absente, on ne peut pas entraîner du supervisé sans la créer de manière valide.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STOP À LA FAUSSE CAUSALITÉ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Un bon prédicteur n’est pas forcément une 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La corrélation peut venir d’un facteur caché.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variable peut être prédictive mais impossible à utiliser.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variable peut être un proxy sensible.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excellente prédiction n’explique pas « pourquoi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Question à poser à l’IA : « Quelles variables sont des proxies ou des informations futures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ARBRE DE CHOIX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Quel premier modèle utiliser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y = 0/1 ou catégories → DummyClassifier puis LogisticRegression ou RandomForestClassifier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y = valeur numérique → DummyRegressor puis Ridge ou RandomForestRegressor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Série temporelle → split chronologique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Même personne / équipe répétée → envisager split par groupe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Commencez simple.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La baseline doit être difficile à battre honnêtement, pas spectaculaire.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Le premier adversaire du modèle : la bêtise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Classification : prédire toujours la classe majoritaire.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Régression : prédire toujours la médiane ou la moyenne.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Puis seulement comparer votre vrai modèle.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99 % d’accuracy peut être inutile si 99 % des cas sont négatifs.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DÉCOUPAGE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Le test est un examen surprise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1. Définir l’unité et la temporalité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2. Séparer train / test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3. Apprendre imputation, encodage et scaling sur TRAIN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4. Appliquer ces transformations au TEST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5. Ajuster sur validation ; tester UNE fois à la fin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Ne jamais faire fit_transform sur le test.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La validation croisée doit intégrer le prétraitement.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ATTENTION AUX DOUBLONS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Même individu, deux lignes : faux succès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Exemple : un même joueur apparaît dans train et test.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Le modèle peut reconnaître le joueur plutôt que généraliser.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Même piège avec clients, patients, maisons ou matchs répétés.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Selon le cas : GroupShuffleSplit, GroupKFold ou découpage chronologique.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PRÉTRAITEMENT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Une pipeline, pas des manipulations éparpillées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NUMÉRIQUE : imputer les manquants, scaler si utile.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CATÉGORIEL : imputer, OneHotEncoder(handle_unknown="ignore").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MODÈLE : LogisticRegression / Ridge / RandomForest.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TOUT DANS Pipeline + ColumnTransformer.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Arbres : scaling souvent inutile.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Distances et modèles linéaires : scaling souvent utile.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PROMPT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Avant le code : demander un diagnostic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Tu es mon reviewer ML. Voici : question, grain, cible, colonnes, EDA, date de prédiction.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1. La cible est-elle définie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2. Quelles features sont disponibles à temps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3. Quelles fuites ou biais possibles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4. Quel split et quelle baseline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5. Quelle métrique et pourquoi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Pose 3 questions bloquantes avant de coder.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INTERDIT : « Fais-moi le meilleur modèle 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PROMPT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Obtenir un pipeline Python vérifiable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Génère un notebook scikit-learn minimal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split adapté ; pas de fuite ; preprocessing en Pipeline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baseline Dummy ; modèle simple ; random_state fixé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métriques adaptées et tableau comparatif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cellules Markdown qui expliquent chaque étape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aucun téléchargement externe ni donnée inventée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gestion des colonnes manquantes et erreurs courantes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Exigez du code exécutable ET une justification.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PROMPT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L’IA doit critiquer son propre résultat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Agis comme un auditeur hostile. Cherche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data leakage et cible mal définie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train/test contaminés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métrique trompeuse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classes déséquilibrées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faible taille d’échantillon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features non disponibles en production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Propose 3 tests concrets pour réfuter le modèle.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 bon prompt demande des objections, pas des compliments.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MÉTHODE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Le chemin d’un modèle qui fonctionne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Ne commencez pas par « Quel algorithme ? ». Commencez par « Quelle prédiction ? 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AVANT 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1. Formuler une question testable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2. Identifier une cible y observable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3. Choisir des variables X disponibles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4. Vérifier la qualité des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APRÈS LE CADRAGE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5. Séparer train / test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6. Construire une baseline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7. Entraîner un modèle simple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8. Évaluer sur le test, expliquer les limites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MÉTHODE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Question prédictive ou question scientifique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Une différence observée n’est pas automatiquement une cause.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QUESTION PRÉDICTIVE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Peut-on prédire une victoire à domicile AVANT le coup d’envoi ?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cible : victoire oui/non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classification supervisée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test sur matchs futurs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QUESTION EXPLICATIVE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Le Covid a-t-il changé l’avantage à domicile ?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comparaison de périodes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attention aux facteurs confondants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sans information de huis clos, aucune conclusion sur le 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MÉTHODE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La cible : le y que l’on veut prédire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Une ligne du tableau = une observation. La cible doit exister pour apprendre.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QUATRE GROUPES, QUATRE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Cinéma : note ≥ 4 → aimé (0/1)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Emploi : salaire annuel brut → €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Champions League : victoire domicile → 0/1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18 000 matchs : victoire domicile → 0/1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À ÉCRIRE SUR LE TABLEAU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Je veux prédire _______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Une ligne représente _______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Je connais y pour _______ lignes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Ma prédiction intervient au moment _______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MÉTHODE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Les features : que sait-on AU BON MOMENT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Ne confondez pas variable corrélée et variable utilisable en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AUTORISÉ (SELON LE CAS)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Cinéma : profil + genre du film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Emploi : métier, ville, expérience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Football : classement avant match, Elo avant match, forme passée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INTERDIT OU À AUDITER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Cinéma : note si y = « aime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Emploi : salaire déjà affiché dans le texte si on prétend l’estimer sans le connaître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Football : score final, tirs du match, classement de fin de saison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MÉTHODE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Préparer les données sans tricher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Une pipeline apprend les transformations sur train, puis les applique au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NUMÉRIQUE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Valeurs manquantes → médiane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Échelles différentes → StandardScaler si utile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Valeurs aberrantes → enquête, pas suppression automatique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CATÉGORIEL + ORDRE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Catégories → OneHotEncoder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Inconnues au test → handle_unknown="ignore"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Séparer AVANT imputation, scaling, sélection de features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Football : split chronologique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MÉTHODE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La baseline : battre une règle idiote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Sans point de comparaison, 80 % de réussite ne veut rien dire.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DummyClassifier(strategy="most_frequent")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toujours la classe la plus fréquente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Exemple : 80 % de matchs « sans nul » ?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80 % d’accuracy peut être médiocre.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RÉGRESSION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DummyRegressor(strategy="median")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prédit toujours le salaire médian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Comparer MAE (erreur absolue moyenne)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erreur de 6 000 € se comprend mieux qu’un score abstrait.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MÉTHODE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Choisir un modèle : simple d’abord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La bonne première réponse est souvent un modèle banal bien évalué.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y EST UNE CATÉGORIE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Classification binaire ou multiclasse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LogisticRegression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éventuellement RandomForestClassifier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Mesurer accuracy + matrice de confusion ; F1 si déséquilibre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y EST UN NOMBRE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Régression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Ridge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→ éventuellement RandomForestRegressor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Mesurer MAE ; comparer au DummyRegressor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Pas de deep learning pour sauver un cadrage flou.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MÉTHODE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Le split dépend de la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La qualité du test détermine ce que vous pouvez vraiment affirmer.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CINÉMA &amp; EMPLOI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Cinéma : mêmes utilisateurs train/test ? OK seulement si on vise des utilisateurs déjà connus.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Nouveaux utilisateurs ? GroupShuffleSplit par spectateur.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Emploi : attention aux offres dupliquées.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FOOTBALL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Entraîner sur les matchs anciens ; tester sur les plus récents.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Calculer les statistiques glissantes sans regarder le futur.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18 000 lignes ne dispensent pas de contrôler les fuites.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CAS DE PROMO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Cinéma 1997 : goûts des spectateurs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Ne prédisez pas le genre du film : prédisez une préférence observable.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CONTRAT DE MODÈLE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ligne = une note donnée par un spectateur à un film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y = 1 si note ≥ 4, sinon 0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X = âge, genre déclaré, profession, genres du film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Modèle = régression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TEST &amp; 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Baseline = classe majoritaire</a:t>
            </a:r>
          </a:p>
          <a:p>
            <a:r>
              <a:rPr sz="1600">
                <a:solidFill>
                  <a:srgbClr val="FFFFFF"/>
                </a:solidFill>
              </a:rPr>
              <a:t>Métriques = accuracy, F1 (validation pour comparer ; test final une fois)</a:t>
            </a:r>
          </a:p>
          <a:p>
            <a:r>
              <a:rPr sz="1600">
                <a:solidFill>
                  <a:srgbClr val="FFFFFF"/>
                </a:solidFill>
              </a:rPr>
              <a:t>Split = selon utilisateurs connus ou nouveaux</a:t>
            </a:r>
          </a:p>
          <a:p>
            <a:r>
              <a:rPr sz="1600">
                <a:solidFill>
                  <a:srgbClr val="FFFFFF"/>
                </a:solidFill>
              </a:rPr>
              <a:t>Attention : profils ≠ goûts individuels ; stéréotypes et échantillon historique.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CAS DE PROMO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Emploi Data : prédire une rémunération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Avant le modèle, mettre tous les salaires dans une unité comparable.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CONTRAT DE MODÈLE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ligne = une offre avec salaire exploitable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y = salaire annuel brut en €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X = intitulé, expérience, ville, télétravail, compétences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Modèle = 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TEST &amp; 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Baseline = salaire médian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Métrique = MAE en euros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Exclure offres sans salaire connu du train supervisé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Ne pas convertir arbitrairement TJM et net en brut sans hypothèses documentées.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CAS DE PROMO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Champions League : prédire AVANT le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L’objectif n’est pas de réexpliquer un score déjà connu.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CONTRAT DE MODÈLE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ligne = un match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y = victoire à domicile (oui/non)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X = Elo historiques, forme passée, domicile, compétition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Modèle = régression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TEST &amp; 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Baseline = majorité de train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Split = chronologique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Métriques = accuracy + confusion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Éviter stats du match et Elo calculé après coup.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CAS DE PROMO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18 000 matchs autour du Covid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Un gros dataset n’invente pas une colonne « huis clos » absente.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OBJECTIF AUJOURD’HUI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y = victoire domicile (0/1)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X = championnat, équipes, forme passée, date, Elo si disponible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Split = ancien → récent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Baseline puis régression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QUESTION À GARDER POUR L’EDA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Comparer avant / pendant / après Covid, MAIS :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période Covid » ≠ « match à huis clos ».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Sans fréquentation / restrictions, impossible d’isoler l’effet du public.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ATELIER / FICHE GROUPE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STOP : validation obligatoire avant de 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Chaque groupe vient montrer ces 6 réponses en 5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LA FICHE À REMPLIR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1. Notre question : ______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2. Notre unité (une ligne) : ______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3. Notre cible y : ______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4. Nos 3–8 features X : ______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5. Notre split : ______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6. Notre baseline + métrique : 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FEU VERT / FEU ROUGE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FEU VERT : cible disponible, variables temporellement valides, métrique choisie.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FEU ROUGE : pas de cible, fuite évidente, mélange d’unités, train/test non crédible.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Dans ce cas : simplifier la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ATELIER /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Extrait à adapter :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Adapter target, features et split au dataset du groupe.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ÉTAPE A — PRÉPARER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X = df[features]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y = df[target]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# Réserver le test final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Xdev, Xtest, ydev, ytest = train_test_split(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    X, y, test_size=.2, random_state=42, stratify=y)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# Puis séparer train / validation dans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ÉTAPE B — COMPARER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Aptos"/>
              </a:rPr>
              <a:t>base = DummyClassifier(strategy="most_frequent")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Aptos"/>
              </a:rPr>
              <a:t>base.fit(Xtr, ytr)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Aptos"/>
              </a:rPr>
              <a:t>print(accuracy_score(yval, base.predict(Xval)))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Aptos"/>
              </a:rPr>
              <a:t># Comparer les modèles sur validation.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Aptos"/>
              </a:rPr>
              <a:t># Test final après le choix définitif.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ATELIER /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Prompt : l’IA doit cadrer avant de 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Copiez le schéma de colonnes, pas des données personnelles.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PROMPT DE CADRAGE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Voici mes colonnes, leurs types et 5 exemples anonymisés. Propose 3 questions prédictives réalisables. Pour chacune : y, X, unité, split, baseline, métrique et risques de fuite. Attends ma validation avant le code.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PROMPT DE CONTRÔLE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Maintenant écris un pipeline scikit-learn complet : imputation, encodage, scaling si nécessaire, baseline, modèle, évaluation. Puis audite ton code : fuite de données ? mauvaise métrique ? erreurs de temporalité ?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ATELIER / SECOURS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Si vous êtes bloqués, réduisez 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Le but de 17h15 : une preuve de fonctionnement, pas un modèle parfait.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LE MODÈLE PLANTE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Prendre 500–2 000 lignes représentatives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Garder 3–5 features faciles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Commencer par Dummy + LogisticRegression / Ridge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Afficher les shapes et les valeurs manquantes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LE DATASET NE CONVIENT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Pas de cible fiable ? Reformuler la question.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Pas assez de labels ? Utiliser une cible plus simple et justifiée.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Noter explicitement la limite.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Ne jamais fabriquer des étiquettes imaginaires.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7D5C9"/>
                </a:solidFill>
                <a:latin typeface="Aptos"/>
              </a:defRPr>
            </a:pPr>
            <a:r>
              <a:t>ATELIER / LIVRABLE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4F8FF"/>
                </a:solidFill>
                <a:latin typeface="Aptos"/>
              </a:defRPr>
            </a:pPr>
            <a:r>
              <a:t>À 17h15 : montrez les preuves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8C8DC"/>
                </a:solidFill>
                <a:latin typeface="Aptos"/>
              </a:defRPr>
            </a:pPr>
            <a:r>
              <a:t>Une démonstration courte vaut mieux qu’une promesse de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5440680" cy="3886200"/>
          </a:xfrm>
          <a:prstGeom prst="roundRect">
            <a:avLst/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LE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Question + y + X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Nettoyage et split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Baseline chiffrée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Modèle entraîné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Métrique sur validation ; test final réservé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Deux limites explicites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219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7D5C9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LA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78892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Voici une ligne du dataset.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Voici ce que le modèle prédit.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Voici son erreur face à la baseline.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« Voici ce que nous ne pouvons PAS conclure. »</a:t>
            </a:r>
          </a:p>
          <a:p>
            <a:pPr>
              <a:spcAft>
                <a:spcPts val="10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Commit GitHub par groupe.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8C8DC"/>
                </a:solidFill>
                <a:latin typeface="Aptos"/>
              </a:defRPr>
            </a:pPr>
            <a:r>
              <a:t>QUESTION → CIBLE → VARIABLES → SPLIT → BASELINE → MODÈLE → ÉVALUATION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CHECKPOINT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11h05 : fiche projet validée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À montrer au professeur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Une phrase : « Nous prédisons… avant… pour… »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Grain des données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y et 3–10 features candidates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Type : classification / régression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Split et métrique envisagés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Risque majeur identifié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Sans cette fiche, ne lancez pas un modèle complexe.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CHECKPOINT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11h50 : premier run sur un sous-ensemble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Votre notebook doit au minimum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charger les données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afficher shape, types, taux de manquants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construire X et y sans fuite évidente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faire un split cohérent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entraîner une Dummy baseline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afficher une métrique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Référence technique : 4c Iris ou 4d retards simulés.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ATELIER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Squelette — classification tabulaire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from sklearn.model_selection import train_test_split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from sklearn.dummy import DummyClassifier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from sklearn.metrics import balanced_accuracy_score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X, y = df[features], df[target]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Xdev, Xtest, ydev, ytest = train_test_split(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    X, y, test_size=.2, random_state=42, stratify=y)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Xtr, Xval, ytr, yval = train_test_split(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    Xdev, ydev, test_size=.25,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    random_state=42, stratify=ydev)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base = DummyClassifier(strategy="most_frequent")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base.fit(Xtr, ytr)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Aptos"/>
              </a:rPr>
              <a:t>print(balanced_accuracy_score(yval, base.predict(Xval)))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Extrait à adapter : df, features et target à définir.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Lignes indépendantes seulement.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Pour le foot : split chronologique.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Comparer sur validation.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Après le choix, réentraîner sur dev puis évaluer UNE fois sur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ATELIER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Squelette — modèle avec prétraitement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from sklearn.pipeline import make_pipeline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from sklearn.impute import SimpleImputer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from sklearn.preprocessing import StandardScaler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from sklearn.linear_model import LogisticRegression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model = make_pipeline(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    SimpleImputer(strategy="median"),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    StandardScaler(),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    LogisticRegression(max_iter=1000))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model.fit(Xtr, ytr)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print(balanced_accuracy_score(yval, model.predict(Xval)))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Extrait à adapter : df, features et target à définir.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Lignes indépendantes seulement.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Pour le foot : split chronologique.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Comparer sur validation.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FFFFFF"/>
                </a:solidFill>
                <a:latin typeface="Aptos"/>
              </a:rPr>
              <a:t>Après le choix, réentraîner sur dev puis évaluer UNE fois sur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PIÈGE DU SQUELETTE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Ce code n’est PAS universel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la donnée est chronologique : ne pas mélanger au hasard.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le même client revient : isoler les clients entre train/test.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des catégories existent : encodage dans la pipeline.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la cible est continue : régression + MAE.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la cible est rare : vérifier recall / precision / PR-AUC.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Le code de démonstration doit être ADAPTÉ au dataset, pas recopié aveuglément.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APRÈS-MIDI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13h50 → 15h20 : build sur votre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PHASE A (20 min) : reprendre la fiche, verrouiller la cible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PHASE B (25 min) : nettoyer, encoder, split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PHASE C (25 min) : baseline + premier modèle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PHASE D (20 min) : comparer les résultats et noter les limites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Chaque membre doit comprendre le pipeline entier.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Le repo GitHub montre les contributions.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RÔLES D’ÉQUIPE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Quatre responsabilités, un résultat commun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 — Question, unité, cible, documentation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B — Qualité, features, prétraitement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 — Baseline, modèle, reproductibilité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 — Métriques, fuite, critique et présentation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À 15h20 : permutation des reviewers.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Ne faites pas quatre notebooks incompatibles.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branche ou des commits identifiables par personne.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MÉTRIQUES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Choisir la métrique selon le coût de l’erreur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CLASSIFICATION : matrice de confusion, balanced accuracy, précision, rappel, F1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RÉGRESSION : MAE, RMSE, R² (avec prudence)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DÉSÉQUILIBRE : ne pas se contenter de l’accuracy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TEMPS : évaluer sur le futur, pas sur le passé mélangé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Quelle erreur coûte le plus cher à l’utilisateur final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TEST DE RÉALITÉ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Votre modèle fait 98 % : champagne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Questions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La baseline fait combien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Y a-t-il une variable du futur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Le test contient-il des doublons du train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Que donne le score sur un sous-groupe ?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Que se passe-t-il si on retire la feature la plus suspecte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 modèle crédible résiste à des tentatives de le faire échouer.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29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PLAN DE SECOURS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Pas assez de données / pas de cible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OPTION 1 : reformuler une question supervisée réaliste.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OPTION 2 : enrichir avec une source documentée et autorisée.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OPTION 3 : travailler sur le dataset de référence 4c Iris (ou 4d retards : données simulées) pour valider la compétence ML ; conserver le dataset personnel pour le projet.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Aucun groupe bloqué toute la journée faute de cible.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30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PLAN DE SECOURS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Ça plante sur votre machine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1. Exécuter les cellules une par une ; lire le traceback.</a:t>
            </a:r>
          </a:p>
          <a:p>
            <a:r>
              <a:rPr sz="1600">
                <a:solidFill>
                  <a:srgbClr val="FFFFFF"/>
                </a:solidFill>
              </a:rPr>
              <a:t>2. Vérifier colonnes, types, NaN et taille des classes.</a:t>
            </a:r>
          </a:p>
          <a:p>
            <a:r>
              <a:rPr sz="1600">
                <a:solidFill>
                  <a:srgbClr val="FFFFFF"/>
                </a:solidFill>
              </a:rPr>
              <a:t>3. Faire tourner la baseline sur 100–500 lignes.</a:t>
            </a:r>
          </a:p>
          <a:p>
            <a:r>
              <a:rPr sz="1600">
                <a:solidFill>
                  <a:srgbClr val="FFFFFF"/>
                </a:solidFill>
              </a:rPr>
              <a:t>4. Utiliser l’IA pour expliquer l’erreur, pas remplacer le projet.</a:t>
            </a:r>
          </a:p>
          <a:p>
            <a:r>
              <a:rPr sz="1600">
                <a:solidFill>
                  <a:srgbClr val="FFFFFF"/>
                </a:solidFill>
              </a:rPr>
              <a:t>5. Référence technique : 4c Iris ou 4d retards simulés.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Demandez : « Quelle est la plus petite expérience qui fonctionne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31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CHECKPOINT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15h20 : un modèle réellement entraîné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Montrez à un autre groupe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notebook exécuté sans erreur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baseline + modèle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même jeu de validation pour les deux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métrique et interprétation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aucune fuite évidente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□ au moins un commit individuel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 groupe voisin essaie de casser votre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32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AUDIT CROISÉ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Vous êtes l’équipe rouge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Chaque groupe audite un autre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1. Montrez-moi la cible et la date de prédiction.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2. Montrez-moi où le train et le test sont séparés.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3. Montrez-moi la baseline.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4. Montrez-moi une feature suspecte.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5. Quelle décision peut-on réellement prendre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Vous avez 10 minutes. Le but est de rendre le modèle plus robuste.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33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LIVRABLE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À 17h15 : preuve, pas promesse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Dans votre repo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README : question, unité, données, cible, décision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EDA.ipynb : observations et limites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ML_baseline.ipynb : pipeline, baseline, modèle, métriques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prompts.md : 2 prompts + ce que vous avez vérifié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• Conclusion : résultat, limite, prochaine expérience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Site web / Streamlit : plus tard.</a:t>
            </a:r>
          </a:p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Aujourd’hui, priorité à un modèle qui fonctionne.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34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DÉMO ÉCLAIR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90 secondes par groupe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30 s : la question et la cible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30 s : montrer le notebook exécuté et la baseline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30 s : score, limite, prochaine étape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Une question de la classe : « Comment sais-tu que ça marche ?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Si trop de groupes : démos en binômes + 3 démonstrations publiques.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35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BARÈME FORMATIF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Ce que je regarde, pas votre leaderboard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Question et cible pertinentes — 25 %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Pipeline valide sans fuite — 30 %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Baseline et évaluation — 20 %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Analyse critique — 15 %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Notebook reproductible et contribution — 10 %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Un modèle modeste, bien expliqué, vaut mieux qu’un 99 % inexpliqué.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36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448056"/>
            <a:ext cx="82296" cy="448056"/>
          </a:xfrm>
          <a:prstGeom prst="roundRect">
            <a:avLst/>
          </a:prstGeom>
          <a:solidFill>
            <a:srgbClr val="24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84048"/>
            <a:ext cx="10058400" cy="329184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AC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835640" cy="102412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6F9FC"/>
                </a:solidFill>
                <a:latin typeface="Aptos"/>
              </a:defRPr>
            </a:pPr>
            <a:r>
              <a:t>Working code is not the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84831"/>
            <a:ext cx="6812280" cy="3977639"/>
          </a:xfrm>
          <a:prstGeom prst="roundRect">
            <a:avLst/>
          </a:prstGeom>
          <a:solidFill>
            <a:srgbClr val="17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13432"/>
            <a:ext cx="6355080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La vraie chaîne :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QUESTION → UNITÉ → FEATURES → SPLIT → BASELINE → MODÈLE → MÉTRIQUE → DÉCISION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Votre IA peut proposer le code.</a:t>
            </a:r>
          </a:p>
          <a:p>
            <a:pPr>
              <a:spcAft>
                <a:spcPts val="700"/>
              </a:spcAft>
              <a:defRPr sz="2000" b="0">
                <a:solidFill>
                  <a:srgbClr val="F6F9F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Vous devez défendre chaque flèche.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2084831"/>
            <a:ext cx="3794760" cy="3977639"/>
          </a:xfrm>
          <a:prstGeom prst="roundRect">
            <a:avLst/>
          </a:prstGeom>
          <a:solidFill>
            <a:srgbClr val="16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2350008"/>
            <a:ext cx="3273552" cy="35204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C258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</a:rPr>
              <a:t>NEXT : amélioration, validation robuste, puis application Streamlit / site web.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058400" cy="2286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4B6C8"/>
                </a:solidFill>
                <a:latin typeface="Aptos"/>
              </a:defRPr>
            </a:pPr>
            <a:r>
              <a:t>PYTHON FOR DATA SCIENCE  •  ESEO  •  QUESTION → MODÈLE  •  37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CBCD"/>
                </a:solidFill>
              </a:defRPr>
            </a:pPr>
            <a:r>
              <a:t>FICHE ENSEIGNANT  •  À PROJETER PENDANT L’ATELIER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EF3FA"/>
                </a:solidFill>
              </a:defRPr>
            </a:pPr>
            <a:r>
              <a:t>Les règles du jeu : du premier modèle au test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A"/>
                </a:solidFill>
              </a:defRPr>
            </a:pPr>
            <a:r>
              <a:t>1  B1_S04 = cas à CRITIQUER ; référence technique = 4c Iris ou 4d retards (simulés).</a:t>
            </a:r>
          </a:p>
          <a:p>
            <a:pPr>
              <a:defRPr sz="1900" b="0">
                <a:solidFill>
                  <a:srgbClr val="EEF3FA"/>
                </a:solidFill>
              </a:defRPr>
            </a:pPr>
            <a:r>
              <a:t>2  Quatre responsabilités, pas quatre personnes : cadrage, préparation, modélisation, audit.</a:t>
            </a:r>
          </a:p>
          <a:p>
            <a:pPr>
              <a:defRPr sz="1900" b="0">
                <a:solidFill>
                  <a:srgbClr val="EEF3FA"/>
                </a:solidFill>
              </a:defRPr>
            </a:pPr>
            <a:r>
              <a:t>    Groupe de 3 : une personne cumule deux responsabilités ; groupes de 5 : binôme.</a:t>
            </a:r>
          </a:p>
          <a:p>
            <a:pPr>
              <a:defRPr sz="1900" b="0">
                <a:solidFill>
                  <a:srgbClr val="EEF3FA"/>
                </a:solidFill>
              </a:defRPr>
            </a:pPr>
            <a:r>
              <a:t>3  11h05 : fiche projet validée ; 11h50 : premier modèle exécuté.</a:t>
            </a:r>
          </a:p>
          <a:p>
            <a:pPr>
              <a:defRPr sz="1900" b="0">
                <a:solidFill>
                  <a:srgbClr val="EEF3FA"/>
                </a:solidFill>
              </a:defRPr>
            </a:pPr>
            <a:r>
              <a:t>4  Comparer les variables et modèles sur VALIDATION (ou CV).</a:t>
            </a:r>
          </a:p>
          <a:p>
            <a:pPr>
              <a:defRPr sz="1900" b="0">
                <a:solidFill>
                  <a:srgbClr val="EEF3FA"/>
                </a:solidFill>
              </a:defRPr>
            </a:pPr>
            <a:r>
              <a:t>    Garder le TEST FINAL intact jusqu’au choix définitif.</a:t>
            </a:r>
          </a:p>
          <a:p>
            <a:pPr>
              <a:defRPr sz="1900" b="0">
                <a:solidFill>
                  <a:srgbClr val="EEF3FA"/>
                </a:solidFill>
              </a:defRPr>
            </a:pPr>
            <a:r>
              <a:t>5  Les extraits Python du diaporama sont à adapter : définir df, features, target, imports.</a:t>
            </a:r>
          </a:p>
          <a:p>
            <a:pPr>
              <a:defRPr sz="1900" b="0">
                <a:solidFill>
                  <a:srgbClr val="EEF3FA"/>
                </a:solidFill>
              </a:defRPr>
            </a:pPr>
            <a:r>
              <a:t>    Aucun copier-coller universel ; exiger un notebook reproductible.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CBCD"/>
                </a:solidFill>
              </a:defRPr>
            </a:pPr>
            <a:r>
              <a:rPr sz="1600">
                <a:solidFill>
                  <a:srgbClr val="FFFFFF"/>
                </a:solidFill>
              </a:rPr>
              <a:t>Diapos 44–60 : fiches d’atelier / aide à la demande — ne pas tout présenter à la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