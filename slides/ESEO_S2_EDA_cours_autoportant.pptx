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FAD33"/>
                </a:solidFill>
                <a:latin typeface="Aptos"/>
              </a:rPr>
              <a:t>PYTHON FOR DATA SCIENCE</a:t>
            </a:r>
          </a:p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S2 — Challenge the question.
Explore the data.</a:t>
            </a:r>
          </a:p>
          <a:p>
            <a:pPr algn="ctr"/>
            <a:r>
              <a:rPr sz="1800">
                <a:solidFill>
                  <a:srgbClr val="D2DAE4"/>
                </a:solidFill>
                <a:latin typeface="Aptos"/>
              </a:rPr>
              <a:t>TDSP • Pandas • Exploratory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AD33"/>
                </a:solidFill>
                <a:latin typeface="Aptos"/>
              </a:defRPr>
            </a:pPr>
            <a:r>
              <a:t>LA CONSIGNE DE LA SEMAINE DERNIÈRE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500" b="1">
                <a:solidFill>
                  <a:srgbClr val="FFFFFF"/>
                </a:solidFill>
                <a:latin typeface="Aptos Display"/>
              </a:rPr>
              <a:t>« Trouvez-moi un dataset. 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AD33"/>
                </a:solidFill>
                <a:latin typeface="Aptos"/>
              </a:defRPr>
            </a:pPr>
            <a:r>
              <a:t>SPOILER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500" b="1">
                <a:solidFill>
                  <a:srgbClr val="FFFFFF"/>
                </a:solidFill>
                <a:latin typeface="Aptos Display"/>
              </a:rPr>
              <a:t>Vous avez tous fait une erreur.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21C2E"/>
                </a:solidFill>
                <a:latin typeface="Aptos Display"/>
              </a:rPr>
              <a:t>Qu'est-ce qui manquait dans ma consigne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Pourquoi fallait-il un dataset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Quel problème devait-on résoudre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Pour qui ? Pour quelle décision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Quelles contraintes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Quel livrable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Comment allait-on juger si le travail était réussi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56D79"/>
                </a:solidFill>
                <a:latin typeface="Aptos"/>
              </a:defRPr>
            </a:pPr>
            <a:r>
              <a:t>Python for Data Science • ESEO • S2 • TDSP + EDA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A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21C2E"/>
                </a:solidFill>
                <a:latin typeface="Aptos Display"/>
              </a:rPr>
              <a:t>STOP — 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21C2E"/>
                </a:solidFill>
                <a:latin typeface="Aptos Display"/>
              </a:rPr>
              <a:t>Challengez maintenant la consigne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88920"/>
            <a:ext cx="9784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21C2E"/>
                </a:solidFill>
                <a:latin typeface="Aptos"/>
              </a:rPr>
              <a:t>Je suis votre client. Vous n'avez PAS le droit de commencer le travail. Posez-moi uniquement les questions dont vous avez besoin avant d'agir.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21C2E"/>
                </a:solidFill>
                <a:latin typeface="Aptos Display"/>
              </a:rPr>
              <a:t>Le réflexe que je veux vous laisser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21C2E"/>
                </a:solidFill>
                <a:latin typeface="Aptos Display"/>
              </a:rPr>
              <a:t>Avant de demander :
« Comment je le fais ? »</a:t>
            </a:r>
          </a:p>
          <a:p>
            <a:pPr algn="ctr"/>
            <a:r>
              <a:rPr sz="3100" b="1">
                <a:solidFill>
                  <a:srgbClr val="386FBE"/>
                </a:solidFill>
                <a:latin typeface="Aptos Display"/>
              </a:rPr>
              <a:t>demandez : « Pourquoi est-ce qu'on le fait ?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56D79"/>
                </a:solidFill>
                <a:latin typeface="Aptos"/>
              </a:defRPr>
            </a:pPr>
            <a:r>
              <a:t>Python for Data Science • ESEO • S2 • TDSP + EDA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21C2E"/>
                </a:solidFill>
                <a:latin typeface="Aptos Display"/>
              </a:rPr>
              <a:t>TDSP : vous avez sauté le début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65960"/>
            <a:ext cx="21762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8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1901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1C2E"/>
                </a:solidFill>
                <a:latin typeface="Aptos"/>
              </a:defRPr>
            </a:pPr>
            <a:r>
              <a:t>1. Business</a:t>
            </a:r>
            <a:br/>
            <a:r>
              <a:t>Understanding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965960"/>
            <a:ext cx="21762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79" y="2194560"/>
            <a:ext cx="1901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1C2E"/>
                </a:solidFill>
                <a:latin typeface="Aptos"/>
              </a:defRPr>
            </a:pPr>
            <a:r>
              <a:t>2. Data Acquisition</a:t>
            </a:r>
            <a:br/>
            <a:r>
              <a:t>&amp; Understanding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965960"/>
            <a:ext cx="21762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2194560"/>
            <a:ext cx="1901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121C2E"/>
                </a:solidFill>
                <a:latin typeface="Aptos"/>
              </a:defRPr>
            </a:pPr>
            <a:r>
              <a:t>3. Modeling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59" y="1965960"/>
            <a:ext cx="21762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19" y="2194560"/>
            <a:ext cx="1901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121C2E"/>
                </a:solidFill>
                <a:latin typeface="Aptos"/>
              </a:defRPr>
            </a:pPr>
            <a:r>
              <a:t>4.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965960"/>
            <a:ext cx="21762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21240" y="2194560"/>
            <a:ext cx="1901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121C2E"/>
                </a:solidFill>
                <a:latin typeface="Aptos"/>
              </a:defRPr>
            </a:pPr>
            <a:r>
              <a:t>5. Customer</a:t>
            </a:r>
            <a:br/>
            <a: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09168"/>
                </a:solidFill>
                <a:latin typeface="Aptos Display"/>
              </a:rPr>
              <a:t>Aujourd'hui : comprendre le problème → comprendre les données → 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56D79"/>
                </a:solidFill>
                <a:latin typeface="Aptos"/>
              </a:defRPr>
            </a:pPr>
            <a:r>
              <a:t>Python for Data Science • ESEO • S2 • TDSP + EDA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21C2E"/>
                </a:solidFill>
                <a:latin typeface="Aptos Display"/>
              </a:rPr>
              <a:t>Maintenant : défendez votre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56D79"/>
                </a:solidFill>
                <a:latin typeface="Aptos"/>
              </a:defRPr>
            </a:pPr>
            <a:r>
              <a:t>2–3 minutes par groupe • pas 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D'où vient-il ?</a:t>
            </a:r>
          </a:p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Que représente exactement UNE ligne ?</a:t>
            </a:r>
          </a:p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Quelles sont les principales variables ?</a:t>
            </a:r>
          </a:p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Qui / quoi est représenté ? Qui / quoi manque ?</a:t>
            </a:r>
          </a:p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Pourquoi l'avez-vous choisi ?</a:t>
            </a:r>
          </a:p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Quelle question pourrait-il permettre d'étudier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56D79"/>
                </a:solidFill>
                <a:latin typeface="Aptos"/>
              </a:defRPr>
            </a:pPr>
            <a:r>
              <a:t>Python for Data Science • ESEO • S2 • TDSP + EDA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AD33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500" b="1">
                <a:solidFill>
                  <a:srgbClr val="FFFFFF"/>
                </a:solidFill>
                <a:latin typeface="Aptos Display"/>
              </a:rPr>
              <a:t>EDA = apprendre à connaître ses données avant de leur demander de répondre.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21C2E"/>
                </a:solidFill>
                <a:latin typeface="Aptos Display"/>
              </a:rPr>
              <a:t>Une EDA n'est pas « faire plein de graphiques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On inspecte la structure.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On vérifie la qualité.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On observe les distributions.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On cherche des relations et des anomalies.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On formule de nouvelles hypothèses.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On identifie ce que les données NE permettent pas de conclure.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56D79"/>
                </a:solidFill>
                <a:latin typeface="Aptos"/>
              </a:defRPr>
            </a:pPr>
            <a:r>
              <a:t>Python for Data Science • ESEO • S2 • TDSP + EDA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21C2E"/>
                </a:solidFill>
                <a:latin typeface="Aptos Display"/>
              </a:rPr>
              <a:t>Les 4 questions de votre EDA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8191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FAD33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581912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1C2E"/>
                </a:solidFill>
                <a:latin typeface="Aptos Display"/>
              </a:defRPr>
            </a:pPr>
            <a:r>
              <a:t>QU'AI-JE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24028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56D79"/>
                </a:solidFill>
                <a:latin typeface="Aptos"/>
              </a:defRPr>
            </a:pPr>
            <a:r>
              <a:t>grain • variables • types •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8191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FAD33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581912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1C2E"/>
                </a:solidFill>
                <a:latin typeface="Aptos Display"/>
              </a:defRPr>
            </a:pPr>
            <a:r>
              <a:t>EST-CE PROPRE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24028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56D79"/>
                </a:solidFill>
                <a:latin typeface="Aptos"/>
              </a:defRPr>
            </a:pPr>
            <a:r>
              <a:t>missing • doublons • incohérences • outliers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79476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5935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FAD33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959352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1C2E"/>
                </a:solidFill>
                <a:latin typeface="Aptos Display"/>
              </a:defRPr>
            </a:pPr>
            <a:r>
              <a:t>QUE SE PASSE-T-IL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1772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56D79"/>
                </a:solidFill>
                <a:latin typeface="Aptos"/>
              </a:defRPr>
            </a:pPr>
            <a:r>
              <a:t>distributions • groupes • relations • tendances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9476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95935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FAD33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959352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1C2E"/>
                </a:solidFill>
                <a:latin typeface="Aptos Display"/>
              </a:defRPr>
            </a:pPr>
            <a:r>
              <a:t>QU'EST-CE QUI MANQUE 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61772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56D79"/>
                </a:solidFill>
                <a:latin typeface="Aptos"/>
              </a:defRPr>
            </a:pPr>
            <a:r>
              <a:t>biais • limites • représentativité • causalité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56D79"/>
                </a:solidFill>
                <a:latin typeface="Aptos"/>
              </a:defRPr>
            </a:pPr>
            <a:r>
              <a:t>Python for Data Science • ESEO • S2 • TDSP + EDA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21C2E"/>
                </a:solidFill>
                <a:latin typeface="Aptos Display"/>
              </a:rPr>
              <a:t>Question 1 — Qu'ai-je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56D79"/>
                </a:solidFill>
                <a:latin typeface="Aptos"/>
              </a:defRPr>
            </a:pPr>
            <a:r>
              <a:t>Avant d'analyser, comprenez la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`df.shape` → combien de lignes / colonnes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`df.head()` / `df.sample()` → à quoi ressemble une observation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`df.columns` → quelles variables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`df.info()` / `df.dtypes` → quels types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`df.describe()` → premiers ordres de grandeur.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56D79"/>
                </a:solidFill>
                <a:latin typeface="Aptos"/>
              </a:defRPr>
            </a:pPr>
            <a:r>
              <a:t>Python for Data Science • ESEO • S2 • TDSP + EDA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21C2E"/>
                </a:solidFill>
                <a:latin typeface="Aptos Display"/>
              </a:rPr>
              <a:t>Question 2 — Puis-je faire confiance aux données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`df.isna().sum()` → que manque-t-il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`df.duplicated().sum()` → doublons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`nunique()` / `value_counts()` → catégories étranges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Min / max / quantiles → valeurs impossibles ou surprenantes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Dates, unités, types → cohérents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56D79"/>
                </a:solidFill>
                <a:latin typeface="Aptos"/>
              </a:defRPr>
            </a:pPr>
            <a:r>
              <a:t>Python for Data Science • ESEO • S2 • TDSP + EDA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21C2E"/>
                </a:solidFill>
                <a:latin typeface="Aptos Display"/>
              </a:rPr>
              <a:t>Question 3 — Que racontent les variables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Numérique → moyenne, médiane, quantiles, histogrammes, boxplots.</a:t>
            </a:r>
          </a:p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Catégoriel → effectifs, proportions, catégories rares.</a:t>
            </a:r>
          </a:p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Temps → évolution, saisonnalité, ruptures.</a:t>
            </a:r>
          </a:p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Groupes → `groupby()` pour comparer.</a:t>
            </a:r>
          </a:p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Deux variables → scatterplot, tableaux croisés, corrélation si pertinente.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56D79"/>
                </a:solidFill>
                <a:latin typeface="Aptos"/>
              </a:defRPr>
            </a:pPr>
            <a:r>
              <a:t>Python for Data Science • ESEO • S2 • TDSP + EDA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21C2E"/>
                </a:solidFill>
                <a:latin typeface="Aptos Display"/>
              </a:rPr>
              <a:t>Attention : une corrélation n'est pas une explication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386FBE"/>
                </a:solidFill>
                <a:latin typeface="Aptos Display"/>
              </a:rPr>
              <a:t>Glaces vendues ↑   ↔   Noyades 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900" b="1">
                <a:solidFill>
                  <a:srgbClr val="121C2E"/>
                </a:solidFill>
                <a:latin typeface="Aptos Display"/>
              </a:rPr>
              <a:t>Est-ce que les glaces causent les noyades ?</a:t>
            </a:r>
          </a:p>
          <a:p>
            <a:pPr algn="ctr">
              <a:defRPr sz="2200">
                <a:solidFill>
                  <a:srgbClr val="656D79"/>
                </a:solidFill>
                <a:latin typeface="Aptos"/>
              </a:defRPr>
            </a:pPr>
            <a:r>
              <a:t>Ou manque-t-il une variable dans notre histoire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56D79"/>
                </a:solidFill>
                <a:latin typeface="Aptos"/>
              </a:defRPr>
            </a:pPr>
            <a:r>
              <a:t>Python for Data Science • ESEO • S2 • TDSP + EDA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21C2E"/>
                </a:solidFill>
                <a:latin typeface="Aptos Display"/>
              </a:rPr>
              <a:t>Notebook Toyota : observez la démarche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56D79"/>
                </a:solidFill>
                <a:latin typeface="Aptos"/>
              </a:defRPr>
            </a:pPr>
            <a:r>
              <a:t>Le notebook est un exemple, pas une recette.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Dans quel ordre les données sont-elles explorées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Pourquoi cette visualisation et pas une autre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Quelles commandes Pandas répondent à quelles questions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Quelles analyses n'auraient aucun sens sur votre dataset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Que devez-vous ajouter pour VOTRE contexte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56D79"/>
                </a:solidFill>
                <a:latin typeface="Aptos"/>
              </a:defRPr>
            </a:pPr>
            <a:r>
              <a:t>Python for Data Science • ESEO • S2 • TDSP + EDA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A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21C2E"/>
                </a:solidFill>
                <a:latin typeface="Aptos Display"/>
              </a:rPr>
              <a:t>STOP — 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21C2E"/>
                </a:solidFill>
                <a:latin typeface="Aptos Display"/>
              </a:rPr>
              <a:t>Ouvrez le notebook Toyota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88920"/>
            <a:ext cx="9784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21C2E"/>
                </a:solidFill>
                <a:latin typeface="Aptos"/>
              </a:rPr>
              <a:t>Par binôme : repérez 5 étapes de l'EDA et, pour chacune, écrivez la QUESTION à laquelle le code essaie de répondre.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Aptos Display"/>
              </a:rPr>
              <a:t>MISSION — Votre propre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Créez `EDA.ipynb` dans votre repo.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Présentez et sourcez votre dataset.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Inspectez structure + qualité.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Choisissez des analyses adaptées à VOS données.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Expliquez chaque étape en Markdown.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Commitez régulièrement.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21C2E"/>
                </a:solidFill>
                <a:latin typeface="Aptos Display"/>
              </a:rPr>
              <a:t>Checkpoint 1 — Comprendre les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Une phrase : quel est le sujet du dataset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Une phrase : que représente une ligne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Combien de lignes / colonnes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Quels types de variables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Quelle est la source ?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Quel problème de qualité voyez-vous déjà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56D79"/>
                </a:solidFill>
                <a:latin typeface="Aptos"/>
              </a:defRPr>
            </a:pPr>
            <a:r>
              <a:t>Python for Data Science • ESEO • S2 • TDSP + EDA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A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21C2E"/>
                </a:solidFill>
                <a:latin typeface="Aptos Display"/>
              </a:rPr>
              <a:t>STOP — 35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21C2E"/>
                </a:solidFill>
                <a:latin typeface="Aptos Display"/>
              </a:rPr>
              <a:t>Travail en groupe — Checkpoint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88920"/>
            <a:ext cx="9784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21C2E"/>
                </a:solidFill>
                <a:latin typeface="Aptos"/>
              </a:rPr>
              <a:t>Faites la première partie de votre EDA. Quand vous pensez avoir compris votre dataset, appelez-moi : je vais essayer de vous prouver que vous ne l'avez pas encore compris.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21C2E"/>
                </a:solidFill>
                <a:latin typeface="Aptos Display"/>
              </a:rPr>
              <a:t>Checkpoint 2 — Explorer intelligemment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Choisissez les distributions réellement utiles.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Comparez des groupes si cela a du sens.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Cherchez anomalies / valeurs extrêmes.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Explorez les relations entre variables pertinentes.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Si vous avez du temps : formulez une hypothèse et testez-la avec les données.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56D79"/>
                </a:solidFill>
                <a:latin typeface="Aptos"/>
              </a:defRPr>
            </a:pPr>
            <a:r>
              <a:t>Python for Data Science • ESEO • S2 • TDSP + EDA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A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21C2E"/>
                </a:solidFill>
                <a:latin typeface="Aptos Display"/>
              </a:rPr>
              <a:t>STOP — 55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21C2E"/>
                </a:solidFill>
                <a:latin typeface="Aptos Display"/>
              </a:rPr>
              <a:t>Travail en groupe — Checkpoint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88920"/>
            <a:ext cx="9784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21C2E"/>
                </a:solidFill>
                <a:latin typeface="Aptos"/>
              </a:rPr>
              <a:t>Continuez votre EDA. Votre objectif n'est PAS d'avoir le plus de graphiques. Votre objectif est d'apprendre quelque chose.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21C2E"/>
                </a:solidFill>
                <a:latin typeface="Aptos Display"/>
              </a:rPr>
              <a:t>Votre notebook doit raconter une histoire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62B34"/>
                </a:solidFill>
                <a:latin typeface="Aptos"/>
              </a:defRPr>
            </a:pPr>
            <a:r>
              <a:t>• Question → pourquoi je regarde cela ?</a:t>
            </a:r>
          </a:p>
          <a:p>
            <a:pPr>
              <a:spcAft>
                <a:spcPts val="1000"/>
              </a:spcAft>
              <a:defRPr sz="2300">
                <a:solidFill>
                  <a:srgbClr val="262B34"/>
                </a:solidFill>
                <a:latin typeface="Aptos"/>
              </a:defRPr>
            </a:pPr>
            <a:r>
              <a:t>• Code → comment je le vérifie ?</a:t>
            </a:r>
          </a:p>
          <a:p>
            <a:pPr>
              <a:spcAft>
                <a:spcPts val="1000"/>
              </a:spcAft>
              <a:defRPr sz="2300">
                <a:solidFill>
                  <a:srgbClr val="262B34"/>
                </a:solidFill>
                <a:latin typeface="Aptos"/>
              </a:defRPr>
            </a:pPr>
            <a:r>
              <a:t>• Résultat → qu'est-ce que j'observe ?</a:t>
            </a:r>
          </a:p>
          <a:p>
            <a:pPr>
              <a:spcAft>
                <a:spcPts val="1000"/>
              </a:spcAft>
              <a:defRPr sz="2300">
                <a:solidFill>
                  <a:srgbClr val="262B34"/>
                </a:solidFill>
                <a:latin typeface="Aptos"/>
              </a:defRPr>
            </a:pPr>
            <a:r>
              <a:t>• Interprétation → qu'est-ce que cela pourrait signifier ?</a:t>
            </a:r>
          </a:p>
          <a:p>
            <a:pPr>
              <a:spcAft>
                <a:spcPts val="1000"/>
              </a:spcAft>
              <a:defRPr sz="2300">
                <a:solidFill>
                  <a:srgbClr val="262B34"/>
                </a:solidFill>
                <a:latin typeface="Aptos"/>
              </a:defRPr>
            </a:pPr>
            <a:r>
              <a:t>• Limite → qu'est-ce que je ne peux pas affirmer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56D79"/>
                </a:solidFill>
                <a:latin typeface="Aptos"/>
              </a:defRPr>
            </a:pPr>
            <a:r>
              <a:t>Python for Data Science • ESEO • S2 • TDSP + EDA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AD33"/>
                </a:solidFill>
                <a:latin typeface="Aptos"/>
              </a:defRPr>
            </a:pPr>
            <a:r>
              <a:t>MIND BEFORE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500" b="1">
                <a:solidFill>
                  <a:srgbClr val="FFFFFF"/>
                </a:solidFill>
                <a:latin typeface="Aptos Display"/>
              </a:rPr>
              <a:t>Le code tourne. Est-ce que ça veut dire que la conclusion est vraie 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21C2E"/>
                </a:solidFill>
                <a:latin typeface="Aptos Display"/>
              </a:rPr>
              <a:t>IA : autorisée, évidemment.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Vous pouvez utiliser ChatGPT / Copilot pour coder, expliquer, déboguer ou proposer des analyses.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Mais vous restez responsables de ce que vous rendez.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Je peux choisir n'importe quelle cellule et demander : « Pourquoi cette ligne est-elle là ? »</a:t>
            </a:r>
          </a:p>
          <a:p>
            <a:pPr>
              <a:spcAft>
                <a:spcPts val="1000"/>
              </a:spcAft>
              <a:defRPr sz="2200">
                <a:solidFill>
                  <a:srgbClr val="262B34"/>
                </a:solidFill>
                <a:latin typeface="Aptos"/>
              </a:defRPr>
            </a:pPr>
            <a:r>
              <a:t>• Si personne ne peut répondre, cette partie n'est pas encore votre travail.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56D79"/>
                </a:solidFill>
                <a:latin typeface="Aptos"/>
              </a:defRPr>
            </a:pPr>
            <a:r>
              <a:t>Python for Data Science • ESEO • S2 • TDSP + EDA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21C2E"/>
                </a:solidFill>
                <a:latin typeface="Aptos Display"/>
              </a:rPr>
              <a:t>Livrable de la journée — `EDA.ipynb`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Dataset présenté + source.</a:t>
            </a:r>
          </a:p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Structure et qualité documentées.</a:t>
            </a:r>
          </a:p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Analyses / visualisations adaptées.</a:t>
            </a:r>
          </a:p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3 découvertes intéressantes.</a:t>
            </a:r>
          </a:p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2 problèmes, biais ou limites.</a:t>
            </a:r>
          </a:p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1 question Data que vous voulez poursuivre.</a:t>
            </a:r>
          </a:p>
          <a:p>
            <a:pPr>
              <a:spcAft>
                <a:spcPts val="1000"/>
              </a:spcAft>
              <a:defRPr sz="2100">
                <a:solidFill>
                  <a:srgbClr val="262B34"/>
                </a:solidFill>
                <a:latin typeface="Aptos"/>
              </a:defRPr>
            </a:pPr>
            <a:r>
              <a:t>• Repo Git + README à jour.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56D79"/>
                </a:solidFill>
                <a:latin typeface="Aptos"/>
              </a:defRPr>
            </a:pPr>
            <a:r>
              <a:t>Python for Data Science • ESEO • S2 • TDSP + EDA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Aptos Display"/>
              </a:rPr>
              <a:t>Restitution — 5 minutes par groupe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1. Qu'avez-vous étudié ?</a:t>
            </a:r>
          </a:p>
          <a:p>
            <a:pPr>
              <a:spcAft>
                <a:spcPts val="10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2. Qu'avez-vous appris que vous ne saviez pas ce matin ?</a:t>
            </a:r>
          </a:p>
          <a:p>
            <a:pPr>
              <a:spcAft>
                <a:spcPts val="10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3. Quelle est votre découverte la plus solide ?</a:t>
            </a:r>
          </a:p>
          <a:p>
            <a:pPr>
              <a:spcAft>
                <a:spcPts val="10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4. Pourquoi devrais-je vous croire ?</a:t>
            </a:r>
          </a:p>
          <a:p>
            <a:pPr>
              <a:spcAft>
                <a:spcPts val="10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5. Quelle est la principale limite de votre analyse 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EFAD33"/>
                </a:solidFill>
                <a:latin typeface="Aptos Display"/>
              </a:rPr>
              <a:t>DATA SCIENCE</a:t>
            </a:r>
          </a:p>
          <a:p>
            <a:pPr algn="ctr"/>
            <a:r>
              <a:rPr sz="3800" b="1">
                <a:solidFill>
                  <a:srgbClr val="FFFFFF"/>
                </a:solidFill>
                <a:latin typeface="Aptos Display"/>
              </a:rPr>
              <a:t>La donnée n'est pas la question.
Le code n'est pas la réponse.</a:t>
            </a:r>
          </a:p>
          <a:p>
            <a:pPr algn="ctr"/>
            <a:r>
              <a:rPr sz="2000">
                <a:solidFill>
                  <a:srgbClr val="D2DAE4"/>
                </a:solidFill>
                <a:latin typeface="Aptos"/>
              </a:rPr>
              <a:t>Votre travail est de construire une conclusion défendable.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