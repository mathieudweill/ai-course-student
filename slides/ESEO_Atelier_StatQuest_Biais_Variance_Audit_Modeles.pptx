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1" r:id="rId3"/>
    <p:sldId id="258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723"/>
  </p:normalViewPr>
  <p:slideViewPr>
    <p:cSldViewPr snapToGrid="0" snapToObjects="1">
      <p:cViewPr varScale="1">
        <p:scale>
          <a:sx n="122" d="100"/>
          <a:sy n="122" d="100"/>
        </p:scale>
        <p:origin x="44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9480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Annonce : 7 minutes de vidéo, puis on applique immédiatement aux modèles de la promotion. Aucun besoin de connaître les maths avancées.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Insister : les dessins sont schématiques. Un modèle complexe n’est pas automatiquement mauvais, mais il faut vérifier la généralisation.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Réponse attendue : B est plus prometteur car il généralise mieux, sous réserve que les évaluations soient comparables. Ne pas choisir uniquement sur le 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Paraphrase de la démonstration vidéo, sans reprendre les illustrations originales.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Précision scientifique : l’écart train–validation est un symptôme possible de variance élevée, mais ne définit pas la variance. Celle-ci est la sensibilité des prédictions à l’échantillon d’entraînement.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description de la vidéo contient une correction explicite sur ce point à environ 4:06. Faire de cette nuance un exercice d’esprit critique : même une excellente vidéo peut simplifier excessivement.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 les étudiants ont déjà consulté le test plusieurs fois, leurs résultats sont exploratoires. Prévoir un vrai test final indépendant si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Les étudiants ne doivent pas utiliser le test final pour choisir des variables ou des hyperparamètres. Chaque équipe note une critique et une expérience faisable.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découpage dépend du cas d’usage : nouveaux utilisateurs ou utilisateurs déjà vus. Le genre déclaré n’est pas un substitut à une préférence individuelle.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Rappeler que les annonces sans salaire ne sont pas forcément manquantes au hasard. La MAE est exprimée en euros si la cible est un salaire annuel en euros.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Deux Poisson indépendantes conditionnellement aux variables sont une baseline cohérente. Examiner la calibration des scores, sans conclure automatiquement à une dépendance à partir d’un seul écart.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 le dataset n’indique pas l’affluence, ne pas attribuer causalement un effet au huis clos.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L’objectif n’est pas d’humilier les groupes. Récompenser une critique argumentée même si elle conclut que le modèle n’est pas encore utilisable.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Finir par demander : « Qu’avez-vous changé d’avis aujourd’hui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Les figures et exercices de ce support sont originaux. Le contenu résume les concepts de la vidéo sans en reproduire les images ni le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7D3D1"/>
                </a:solidFill>
                <a:latin typeface="Aptos"/>
              </a:defRPr>
            </a:pPr>
            <a:r>
              <a:t>ATELIER • VIDÉO + DÉFI INTER-GROUPES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2F6FD"/>
                </a:solidFill>
                <a:latin typeface="Aptos"/>
              </a:defRPr>
            </a:pPr>
            <a:r>
              <a:t>BIAS &amp; VARIANCE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71907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A9BBD0"/>
                </a:solidFill>
                <a:latin typeface="Aptos"/>
              </a:defRPr>
            </a:pPr>
            <a:r>
              <a:t>Pourquoi un modèle brillant sur le train peut échouer dans la vraie vie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9BBD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788920"/>
            <a:ext cx="10835640" cy="1234440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3054096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FFC256"/>
                </a:solidFill>
                <a:latin typeface="Aptos"/>
              </a:defRPr>
            </a:pPr>
            <a:r>
              <a:t>« Le modèle le plus précis sur le train n’est pas forcément le meilleur. 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7D3D1"/>
                </a:solidFill>
                <a:latin typeface="Aptos"/>
              </a:defRPr>
            </a:pPr>
            <a:r>
              <a:t>INTUITION VISUELLE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2F6FD"/>
                </a:solidFill>
                <a:latin typeface="Aptos"/>
              </a:defRPr>
            </a:pPr>
            <a:r>
              <a:t>Trois modèles, une même réalité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9BBD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38528"/>
            <a:ext cx="3520440" cy="3337560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F7277"/>
                </a:solidFill>
                <a:latin typeface="Aptos"/>
              </a:defRPr>
            </a:pPr>
            <a:r>
              <a:t>TROP SIMPLE</a:t>
            </a:r>
          </a:p>
        </p:txBody>
      </p:sp>
      <p:sp>
        <p:nvSpPr>
          <p:cNvPr id="7" name="Oval 6"/>
          <p:cNvSpPr/>
          <p:nvPr/>
        </p:nvSpPr>
        <p:spPr>
          <a:xfrm>
            <a:off x="996696" y="4255797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8448" y="3972161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00200" y="3871176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901952" y="3556301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203704" y="3546449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505456" y="3451123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807208" y="3388276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108960" y="3562740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10712" y="3561164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712464" y="3788128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96696" y="4187952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0879" y="4181167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85062" y="4174383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279245" y="4167599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373428" y="4160814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467612" y="4154030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561795" y="4147246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655978" y="4140462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750161" y="4133677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844344" y="4126893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938528" y="4120109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032711" y="4113325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126894" y="4106540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221077" y="4099756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315260" y="4092972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409444" y="4086188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503627" y="4079403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597810" y="4072619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691993" y="4065835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786176" y="4059051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880360" y="4052266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974543" y="4045482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068726" y="4038698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162909" y="4031914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257092" y="4025129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351276" y="4018345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445459" y="4011561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539642" y="4004777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3633825" y="3997992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3728008" y="3991208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3822191" y="3984424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3916375" y="3977639"/>
            <a:ext cx="45720" cy="45720"/>
          </a:xfrm>
          <a:prstGeom prst="ellipse">
            <a:avLst/>
          </a:prstGeom>
          <a:solidFill>
            <a:srgbClr val="FF7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4526280" y="1938528"/>
            <a:ext cx="3520440" cy="3337560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63440" y="21488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6ADCA0"/>
                </a:solidFill>
                <a:latin typeface="Aptos"/>
              </a:defRPr>
            </a:pPr>
            <a:r>
              <a:t>ÉQUILIBRÉ</a:t>
            </a:r>
          </a:p>
        </p:txBody>
      </p:sp>
      <p:sp>
        <p:nvSpPr>
          <p:cNvPr id="51" name="Oval 50"/>
          <p:cNvSpPr/>
          <p:nvPr/>
        </p:nvSpPr>
        <p:spPr>
          <a:xfrm>
            <a:off x="4837176" y="4195415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5138928" y="3957864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440680" y="3817347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742432" y="3735658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044184" y="3448480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345936" y="3417256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647688" y="3523656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949440" y="3667413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251192" y="3689452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7552944" y="3779340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4837176" y="4325112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4931359" y="4253558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5025542" y="4182602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5119725" y="4112836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5213908" y="4044840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5308092" y="3979175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402275" y="3916379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5496458" y="3856959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5590641" y="3801390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5684824" y="3750106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5779008" y="3703496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5873191" y="3661902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5967374" y="3625616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6061557" y="3594873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6155740" y="3569853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6249924" y="3550676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6344107" y="3537402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6438290" y="3530032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6532473" y="3528506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6626656" y="3532701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6720840" y="3542440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6815023" y="3557487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6909206" y="3577550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7003389" y="3602287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7097572" y="3631309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7191756" y="3664181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7285939" y="3700430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7380122" y="3739548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7474305" y="3780997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7568488" y="3824216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7662671" y="3868625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7756855" y="3913632"/>
            <a:ext cx="45720" cy="45720"/>
          </a:xfrm>
          <a:prstGeom prst="ellipse">
            <a:avLst/>
          </a:prstGeom>
          <a:solidFill>
            <a:srgbClr val="6A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8366760" y="1938528"/>
            <a:ext cx="3520440" cy="3337560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503920" y="21488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FC256"/>
                </a:solidFill>
                <a:latin typeface="Aptos"/>
              </a:defRPr>
            </a:pPr>
            <a:r>
              <a:t>TROP FLEXIBLE</a:t>
            </a:r>
          </a:p>
        </p:txBody>
      </p:sp>
      <p:sp>
        <p:nvSpPr>
          <p:cNvPr id="95" name="Oval 94"/>
          <p:cNvSpPr/>
          <p:nvPr/>
        </p:nvSpPr>
        <p:spPr>
          <a:xfrm>
            <a:off x="8677656" y="4410906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8979408" y="3947372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9281160" y="3920516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9582912" y="3607932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9884664" y="3453342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0186416" y="3392187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0488168" y="3447827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0789920" y="3636130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1091672" y="3595216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11393424" y="3823303"/>
            <a:ext cx="68580" cy="68580"/>
          </a:xfrm>
          <a:prstGeom prst="ellipse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8677656" y="4325112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8771839" y="4466008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8866022" y="4076100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8960205" y="3953776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9054388" y="4231080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9148572" y="4044872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9242755" y="3697204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9336938" y="3901135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9431121" y="3998419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9525304" y="3607158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9619488" y="3578128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9713671" y="3867698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9807854" y="3647818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9902037" y="3377948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9996220" y="3656397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10090404" y="3724216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0184587" y="3363862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0278770" y="3443488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0372953" y="3745431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0467136" y="3510499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0561320" y="3336645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0655503" y="3682855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0749686" y="3720497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0843869" y="3405258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0938052" y="3587133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1032236" y="3883355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1126419" y="3634733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1220602" y="3553308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1314785" y="3940058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11408968" y="3930719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11503152" y="3656174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11597335" y="3913631"/>
            <a:ext cx="45720" cy="45720"/>
          </a:xfrm>
          <a:prstGeom prst="ellipse">
            <a:avLst/>
          </a:prstGeom>
          <a:solidFill>
            <a:srgbClr val="FFC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731520" y="57332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A9BBD0"/>
                </a:solidFill>
                <a:latin typeface="Aptos"/>
              </a:defRPr>
            </a:pPr>
            <a:r>
              <a:t>Illustration pédagogique schématique, non issue de données réelles.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7D3D1"/>
                </a:solidFill>
                <a:latin typeface="Aptos"/>
              </a:defRPr>
            </a:pPr>
            <a:r>
              <a:t>VOTE À MAIN LEVÉE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2F6FD"/>
                </a:solidFill>
                <a:latin typeface="Aptos"/>
              </a:defRPr>
            </a:pPr>
            <a:r>
              <a:rPr dirty="0" err="1"/>
              <a:t>lequel</a:t>
            </a:r>
            <a:r>
              <a:rPr dirty="0"/>
              <a:t> </a:t>
            </a:r>
            <a:r>
              <a:rPr dirty="0" err="1"/>
              <a:t>choisir</a:t>
            </a:r>
            <a:r>
              <a:rPr dirty="0"/>
              <a:t>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9BBD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5166360" cy="2423160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36208" y="2057400"/>
            <a:ext cx="5166360" cy="2423160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359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37D3D1"/>
                </a:solidFill>
                <a:latin typeface="Aptos"/>
              </a:defRPr>
            </a:pPr>
            <a:r>
              <a:t>MODÈLE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803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0">
                <a:solidFill>
                  <a:srgbClr val="F2F6FD"/>
                </a:solidFill>
                <a:latin typeface="Aptos"/>
              </a:defRPr>
            </a:pPr>
            <a:r>
              <a:t>Train : 99 %</a:t>
            </a:r>
          </a:p>
          <a:p>
            <a:pPr>
              <a:spcAft>
                <a:spcPts val="1200"/>
              </a:spcAft>
              <a:defRPr sz="2600" b="0">
                <a:solidFill>
                  <a:srgbClr val="F2F6FD"/>
                </a:solidFill>
                <a:latin typeface="Aptos"/>
              </a:defRPr>
            </a:pPr>
            <a:r>
              <a:t>Validation : 61 %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359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6ADCA0"/>
                </a:solidFill>
                <a:latin typeface="Aptos"/>
              </a:defRPr>
            </a:pPr>
            <a:r>
              <a:t>MODÈLE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8" y="28803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0">
                <a:solidFill>
                  <a:srgbClr val="F2F6FD"/>
                </a:solidFill>
                <a:latin typeface="Aptos"/>
              </a:defRPr>
            </a:pPr>
            <a:r>
              <a:t>Train : 78 %</a:t>
            </a:r>
          </a:p>
          <a:p>
            <a:pPr>
              <a:spcAft>
                <a:spcPts val="1200"/>
              </a:spcAft>
              <a:defRPr sz="2600" b="0">
                <a:solidFill>
                  <a:srgbClr val="F2F6FD"/>
                </a:solidFill>
                <a:latin typeface="Aptos"/>
              </a:defRPr>
            </a:pPr>
            <a:r>
              <a:t>Validation : 75 %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FFC256"/>
                </a:solidFill>
                <a:latin typeface="Aptos"/>
              </a:defRPr>
            </a:pPr>
            <a:r>
              <a:t>Quel modèle retiendriez-vous pour un nouvel utilisateur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7D3D1"/>
                </a:solidFill>
                <a:latin typeface="Aptos"/>
              </a:defRPr>
            </a:pPr>
            <a:r>
              <a:t>DU POIDS ET DE LA TAILLE DES SOURIS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2F6FD"/>
                </a:solidFill>
                <a:latin typeface="Aptos"/>
              </a:defRPr>
            </a:pPr>
            <a:r>
              <a:rPr dirty="0" err="1"/>
              <a:t>L’histoire</a:t>
            </a:r>
            <a:r>
              <a:rPr dirty="0"/>
              <a:t> </a:t>
            </a:r>
            <a:r>
              <a:rPr dirty="0" err="1"/>
              <a:t>racontée</a:t>
            </a:r>
            <a:r>
              <a:rPr dirty="0"/>
              <a:t> </a:t>
            </a:r>
            <a:r>
              <a:rPr lang="fr-FR" dirty="0"/>
              <a:t>ici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9BBD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83664"/>
            <a:ext cx="10607040" cy="822960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02536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37D3D1"/>
                </a:solidFill>
                <a:latin typeface="Aptos"/>
              </a:defRPr>
            </a:pPr>
            <a:r>
              <a:t>1. Les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975104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2F6FD"/>
                </a:solidFill>
                <a:latin typeface="Aptos"/>
              </a:defRPr>
            </a:pPr>
            <a:r>
              <a:t>On observe des points : une relation existe, mais elle n’est pas parfaitement droite.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07792"/>
            <a:ext cx="10607040" cy="822960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026664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37D3D1"/>
                </a:solidFill>
                <a:latin typeface="Aptos"/>
              </a:defRPr>
            </a:pPr>
            <a:r>
              <a:t>2. La droite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999232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2F6FD"/>
                </a:solidFill>
                <a:latin typeface="Aptos"/>
              </a:defRPr>
            </a:pPr>
            <a:r>
              <a:t>Modèle simple : il rate une partie de la courbure.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931920"/>
            <a:ext cx="10607040" cy="822960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05079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37D3D1"/>
                </a:solidFill>
                <a:latin typeface="Aptos"/>
              </a:defRPr>
            </a:pPr>
            <a:r>
              <a:t>3. La courbe tortueuse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402336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2F6FD"/>
                </a:solidFill>
                <a:latin typeface="Aptos"/>
              </a:defRPr>
            </a:pPr>
            <a:r>
              <a:t>Modèle complexe : elle épouse presque chaque point du train.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956048"/>
            <a:ext cx="10607040" cy="822960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0749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37D3D1"/>
                </a:solidFill>
                <a:latin typeface="Aptos"/>
              </a:defRPr>
            </a:pPr>
            <a:r>
              <a:t>4. Nouvelles données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5047488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2F6FD"/>
                </a:solidFill>
                <a:latin typeface="Aptos"/>
              </a:defRPr>
            </a:pPr>
            <a:r>
              <a:t>La courbe très flexible peut être moins fiable hors entraînement.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7D3D1"/>
                </a:solidFill>
                <a:latin typeface="Aptos"/>
              </a:defRPr>
            </a:pPr>
            <a:r>
              <a:t>PYTHON FOR DATA SCIENCE • ESEO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2F6FD"/>
                </a:solidFill>
                <a:latin typeface="Aptos"/>
              </a:defRPr>
            </a:pPr>
            <a:r>
              <a:t>Biais, variance : de quoi parle-t-on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9BBD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10881360" cy="786384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39572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37D3D1"/>
                </a:solidFill>
                <a:latin typeface="Aptos"/>
              </a:defRPr>
            </a:pPr>
            <a:r>
              <a:t>BIAIS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386584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2F6FD"/>
                </a:solidFill>
                <a:latin typeface="Aptos"/>
              </a:defRPr>
            </a:pPr>
            <a:r>
              <a:t>Un modèle trop rigide manque des régularités importantes.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10881360" cy="786384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335584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37D3D1"/>
                </a:solidFill>
                <a:latin typeface="Aptos"/>
              </a:defRPr>
            </a:pPr>
            <a:r>
              <a:t>VARIANCE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346703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2F6FD"/>
                </a:solidFill>
                <a:latin typeface="Aptos"/>
              </a:defRPr>
            </a:pPr>
            <a:r>
              <a:t>Ses prédictions changent fortement selon les données d’entraînement.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06240"/>
            <a:ext cx="10881360" cy="786384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431596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37D3D1"/>
                </a:solidFill>
                <a:latin typeface="Aptos"/>
              </a:defRPr>
            </a:pPr>
            <a:r>
              <a:t>SURAPPRENTISSAGE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306824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2F6FD"/>
                </a:solidFill>
                <a:latin typeface="Aptos"/>
              </a:defRPr>
            </a:pPr>
            <a:r>
              <a:t>Il apprend trop de particularités du train et généralise mal.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166360"/>
            <a:ext cx="10881360" cy="786384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527608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37D3D1"/>
                </a:solidFill>
                <a:latin typeface="Aptos"/>
              </a:defRPr>
            </a:pPr>
            <a:r>
              <a:t>SOUS-APPRENTISSAGE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5266944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2F6FD"/>
                </a:solidFill>
                <a:latin typeface="Aptos"/>
              </a:defRPr>
            </a:pPr>
            <a:r>
              <a:t>Il ne capture même pas les grandes tendances utiles.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7D3D1"/>
                </a:solidFill>
                <a:latin typeface="Aptos"/>
              </a:defRPr>
            </a:pPr>
            <a:r>
              <a:t>POINT SCIENTIFIQUE IMPORTANT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2F6FD"/>
                </a:solidFill>
                <a:latin typeface="Aptos"/>
              </a:defRPr>
            </a:pPr>
            <a:r>
              <a:t>Attention au piège de vocabulaire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9BBD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39112"/>
            <a:ext cx="10698480" cy="2331720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FFC256"/>
                </a:solidFill>
                <a:latin typeface="Aptos"/>
              </a:defRPr>
            </a:pPr>
            <a:r>
              <a:t>Écart train / validation ≠ définition de la variance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4612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2F6FD"/>
                </a:solidFill>
                <a:latin typeface="Aptos"/>
              </a:defRPr>
            </a:pPr>
            <a:r>
              <a:t>La variance décrit la sensibilité du modèle à un changement des données utilisées pour l’entraîner.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4983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A9BBD0"/>
                </a:solidFill>
                <a:latin typeface="Aptos"/>
              </a:defRPr>
            </a:pPr>
            <a:r>
              <a:t>Un grand écart train–validation peut être un indice de surapprentissage, mais aussi d’un décalage de distribution.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7D3D1"/>
                </a:solidFill>
                <a:latin typeface="Aptos"/>
              </a:defRPr>
            </a:pPr>
            <a:r>
              <a:t>PYTHON FOR DATA SCIENCE • ESEO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2F6FD"/>
                </a:solidFill>
                <a:latin typeface="Aptos"/>
              </a:defRPr>
            </a:pPr>
            <a:r>
              <a:t>Comment diagnostiquer votre modèle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9BBD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10881360" cy="786384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39572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37D3D1"/>
                </a:solidFill>
                <a:latin typeface="Aptos"/>
              </a:defRPr>
            </a:pPr>
            <a:r>
              <a:t>TRAIN BON • VAL FAIBLE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386584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2F6FD"/>
                </a:solidFill>
                <a:latin typeface="Aptos"/>
              </a:defRPr>
            </a:pPr>
            <a:r>
              <a:t>Suspecter surapprentissage, fuite ou différence entre échantillons.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10881360" cy="786384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335584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37D3D1"/>
                </a:solidFill>
                <a:latin typeface="Aptos"/>
              </a:defRPr>
            </a:pPr>
            <a:r>
              <a:t>TRAIN FAIBLE • VAL FAIBLE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346703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2F6FD"/>
                </a:solidFill>
                <a:latin typeface="Aptos"/>
              </a:defRPr>
            </a:pPr>
            <a:r>
              <a:t>Suspecter sous-apprentissage, variables pauvres ou cible difficile.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06240"/>
            <a:ext cx="10881360" cy="786384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431596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37D3D1"/>
                </a:solidFill>
                <a:latin typeface="Aptos"/>
              </a:defRPr>
            </a:pPr>
            <a:r>
              <a:t>TRAIN ET VAL CORRECTS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306824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2F6FD"/>
                </a:solidFill>
                <a:latin typeface="Aptos"/>
              </a:defRPr>
            </a:pPr>
            <a:r>
              <a:t>Comparer à la baseline et vérifier la stabilité.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166360"/>
            <a:ext cx="10881360" cy="786384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527608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37D3D1"/>
                </a:solidFill>
                <a:latin typeface="Aptos"/>
              </a:defRPr>
            </a:pPr>
            <a:r>
              <a:t>SCORES « TROP BEAUX 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5266944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2F6FD"/>
                </a:solidFill>
                <a:latin typeface="Aptos"/>
              </a:defRPr>
            </a:pPr>
            <a:r>
              <a:t>Rechercher une fuite temporelle, une colonne-cible ou des doublons.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7D3D1"/>
                </a:solidFill>
                <a:latin typeface="Aptos"/>
              </a:defRPr>
            </a:pPr>
            <a:r>
              <a:t>PAS DE TRICHE INVOLONTAIRE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2F6FD"/>
                </a:solidFill>
                <a:latin typeface="Aptos"/>
              </a:defRPr>
            </a:pPr>
            <a:r>
              <a:t>Trois jeux, trois fonctions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9BBD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3520440" cy="2697480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37D3D1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273552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Apprendre paramètres</a:t>
            </a:r>
          </a:p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et transformations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103120"/>
            <a:ext cx="3520440" cy="2697480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36592" y="24688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C25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3273552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Comparer modèles,</a:t>
            </a:r>
          </a:p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variables et réglages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103120"/>
            <a:ext cx="3520440" cy="2697480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77072" y="24688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ADCA0"/>
                </a:solidFill>
                <a:latin typeface="Aptos"/>
              </a:defRPr>
            </a:pPr>
            <a:r>
              <a:t>TEST FINAL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3273552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Évaluer une seule fois</a:t>
            </a:r>
          </a:p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la solution retenue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49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2F6FD"/>
                </a:solidFill>
                <a:latin typeface="Aptos"/>
              </a:defRPr>
            </a:pPr>
            <a:r>
              <a:t>Pour les matchs : découpage chronologique ; Elo et statistiques calculés avant le coup d’envoi.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7D3D1"/>
                </a:solidFill>
                <a:latin typeface="Aptos"/>
              </a:defRPr>
            </a:pPr>
            <a:r>
              <a:t>15 MINUTES • UNE PERSONNE PAR GROUPE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2F6FD"/>
                </a:solidFill>
                <a:latin typeface="Aptos"/>
              </a:defRPr>
            </a:pPr>
            <a:r>
              <a:t>Audit croisé : mission de l’émissaire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9BBD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07040" cy="658368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19659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C25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65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2F6FD"/>
                </a:solidFill>
                <a:latin typeface="Aptos"/>
              </a:defRPr>
            </a:pPr>
            <a:r>
              <a:t>Demandez les scores train ET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97479"/>
            <a:ext cx="10607040" cy="658368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788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C25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88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2F6FD"/>
                </a:solidFill>
                <a:latin typeface="Aptos"/>
              </a:defRPr>
            </a:pPr>
            <a:r>
              <a:t>Vérifiez baseline et métrique identiques.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520439"/>
            <a:ext cx="10607040" cy="658368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361187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C25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6118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2F6FD"/>
                </a:solidFill>
                <a:latin typeface="Aptos"/>
              </a:defRPr>
            </a:pPr>
            <a:r>
              <a:t>Identifiez un risque de fuite ou de surapprentissage.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343400"/>
            <a:ext cx="10607040" cy="658368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44348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C25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2F6FD"/>
                </a:solidFill>
                <a:latin typeface="Aptos"/>
              </a:defRPr>
            </a:pPr>
            <a:r>
              <a:t>Proposez UNE expérience sur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166360"/>
            <a:ext cx="10607040" cy="658368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" y="5257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C25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257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2F6FD"/>
                </a:solidFill>
                <a:latin typeface="Aptos"/>
              </a:defRPr>
            </a:pPr>
            <a:r>
              <a:t>Revenez avec une recommandation justifiée.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7D3D1"/>
                </a:solidFill>
                <a:latin typeface="Aptos"/>
              </a:defRPr>
            </a:pPr>
            <a:r>
              <a:t>FILMS • PROFILS • RECOMMANDATION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2F6FD"/>
                </a:solidFill>
                <a:latin typeface="Aptos"/>
              </a:defRPr>
            </a:pPr>
            <a:r>
              <a:t>Cas 1 • Cinéma 1997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9BBD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920240"/>
            <a:ext cx="10652760" cy="3200400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2415" y="2286000"/>
            <a:ext cx="9966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FFC256"/>
                </a:solidFill>
                <a:latin typeface="Aptos"/>
              </a:defRPr>
            </a:pPr>
            <a:r>
              <a:t>« Notre modèle reconnaît-il les goûts… ou les films populaires ?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83280"/>
            <a:ext cx="9875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À vérifier : séparation par utilisateur ou par interaction ?</a:t>
            </a:r>
          </a:p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Baseline : recommander le plus populaire.</a:t>
            </a:r>
          </a:p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Expérience : comparer train / validation par segment de public.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7D3D1"/>
                </a:solidFill>
                <a:latin typeface="Aptos"/>
              </a:defRPr>
            </a:pPr>
            <a:r>
              <a:t>RÉGRESSION • SALAIRES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2F6FD"/>
                </a:solidFill>
                <a:latin typeface="Aptos"/>
              </a:defRPr>
            </a:pPr>
            <a:r>
              <a:t>Cas 2 • Emplois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9BBD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920240"/>
            <a:ext cx="10652760" cy="3200400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2415" y="2286000"/>
            <a:ext cx="9966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FFC256"/>
                </a:solidFill>
                <a:latin typeface="Aptos"/>
              </a:defRPr>
            </a:pPr>
            <a:r>
              <a:t>« Notre modèle généralise-t-il à des offres nouvelles ?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83280"/>
            <a:ext cx="9875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À vérifier : brut / net / TJM ; fourchettes ; salaires absents.</a:t>
            </a:r>
          </a:p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Baseline : salaire médian du train.</a:t>
            </a:r>
          </a:p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Expérience : comparer MAE train / validation ; inspecter les erreurs extrêmes.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7D3D1"/>
                </a:solidFill>
                <a:latin typeface="Aptos"/>
              </a:defRPr>
            </a:pPr>
            <a:r>
              <a:t>SCORES • POISSON • 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2F6FD"/>
                </a:solidFill>
                <a:latin typeface="Aptos"/>
              </a:defRPr>
            </a:pPr>
            <a:r>
              <a:t>Cas 3 • Champions League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9BBD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920240"/>
            <a:ext cx="10652760" cy="3200400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2415" y="2286000"/>
            <a:ext cx="9966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FFC256"/>
                </a:solidFill>
                <a:latin typeface="Aptos"/>
              </a:defRPr>
            </a:pPr>
            <a:r>
              <a:t>« Votre 58,6 % mesure quoi, exactement ?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83280"/>
            <a:ext cx="9875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À vérifier : victoire binaire ≠ score exact.</a:t>
            </a:r>
          </a:p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Évaluer les buts avec MAE et les issues avec accuracy.</a:t>
            </a:r>
          </a:p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Expérience : comparer fréquences observées et prédites des 0-0 / 1-1.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7D3D1"/>
                </a:solidFill>
                <a:latin typeface="Aptos"/>
              </a:defRPr>
            </a:pPr>
            <a:r>
              <a:t>FOOTBALL • PÉRIODE COVID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2F6FD"/>
                </a:solidFill>
                <a:latin typeface="Aptos"/>
              </a:defRPr>
            </a:pPr>
            <a:r>
              <a:t>Cas 4 • 18 000 matchs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9BBD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920240"/>
            <a:ext cx="10652760" cy="3200400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2415" y="2286000"/>
            <a:ext cx="9966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FFC256"/>
                </a:solidFill>
                <a:latin typeface="Aptos"/>
              </a:defRPr>
            </a:pPr>
            <a:r>
              <a:t>« Votre modèle connaît-il le futur ?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83280"/>
            <a:ext cx="9875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À vérifier : split chronologique ; forme calculée sur matchs passés.</a:t>
            </a:r>
          </a:p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Ne pas assimiler période Covid et huis clos sans information.</a:t>
            </a:r>
          </a:p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Expérience : comparer un modèle simple à un modèle enrichi sur validation.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7D3D1"/>
                </a:solidFill>
                <a:latin typeface="Aptos"/>
              </a:defRPr>
            </a:pPr>
            <a:r>
              <a:t>3 MINUTES PAR GROUPE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2F6FD"/>
                </a:solidFill>
                <a:latin typeface="Aptos"/>
              </a:defRPr>
            </a:pPr>
            <a:r>
              <a:t>Retour des auditeurs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9BBD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0698480" cy="804672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207568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37D3D1"/>
                </a:solidFill>
                <a:latin typeface="Aptos"/>
              </a:defRPr>
            </a:pPr>
            <a:r>
              <a:t>CONSTAT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075688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2F6FD"/>
                </a:solidFill>
                <a:latin typeface="Aptos"/>
              </a:defRPr>
            </a:pPr>
            <a:r>
              <a:t>Ce que nous avons observé dans l’autre équipe.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10698480" cy="804672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30815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37D3D1"/>
                </a:solidFill>
                <a:latin typeface="Aptos"/>
              </a:defRPr>
            </a:pPr>
            <a:r>
              <a:t>RISQUE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081528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2F6FD"/>
                </a:solidFill>
                <a:latin typeface="Aptos"/>
              </a:defRPr>
            </a:pPr>
            <a:r>
              <a:t>Ce qui peut tromper la mesure de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10698480" cy="804672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40873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37D3D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087368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2F6FD"/>
                </a:solidFill>
                <a:latin typeface="Aptos"/>
              </a:defRPr>
            </a:pPr>
            <a:r>
              <a:t>L’expérience faisable avant la fin de séance.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83480"/>
            <a:ext cx="10698480" cy="804672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509320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37D3D1"/>
                </a:solidFill>
                <a:latin typeface="Aptos"/>
              </a:defRPr>
            </a:pPr>
            <a:r>
              <a:t>DÉCISION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093208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2F6FD"/>
                </a:solidFill>
                <a:latin typeface="Aptos"/>
              </a:defRPr>
            </a:pPr>
            <a:r>
              <a:t>Nous suivons / refusons la recommandation parce que…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7D3D1"/>
                </a:solidFill>
                <a:latin typeface="Aptos"/>
              </a:defRPr>
            </a:pPr>
            <a:r>
              <a:t>À DÉPOSER SUR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2F6FD"/>
                </a:solidFill>
                <a:latin typeface="Aptos"/>
              </a:defRPr>
            </a:pPr>
            <a:r>
              <a:t>Ticket de sortie : 5 réponses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9BBD0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498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F2F6FD"/>
                </a:solidFill>
                <a:latin typeface="Aptos"/>
              </a:defRPr>
            </a:pPr>
            <a:r>
              <a:t>1. Notre question et notre cible</a:t>
            </a:r>
          </a:p>
          <a:p>
            <a:pPr>
              <a:spcAft>
                <a:spcPts val="1200"/>
              </a:spcAft>
              <a:defRPr sz="2300" b="0">
                <a:solidFill>
                  <a:srgbClr val="F2F6FD"/>
                </a:solidFill>
                <a:latin typeface="Aptos"/>
              </a:defRPr>
            </a:pPr>
            <a:r>
              <a:t>2. Notre baseline et notre métrique</a:t>
            </a:r>
          </a:p>
          <a:p>
            <a:pPr>
              <a:spcAft>
                <a:spcPts val="1200"/>
              </a:spcAft>
              <a:defRPr sz="2300" b="0">
                <a:solidFill>
                  <a:srgbClr val="F2F6FD"/>
                </a:solidFill>
                <a:latin typeface="Aptos"/>
              </a:defRPr>
            </a:pPr>
            <a:r>
              <a:t>3. Nos scores train et validation</a:t>
            </a:r>
          </a:p>
          <a:p>
            <a:pPr>
              <a:spcAft>
                <a:spcPts val="1200"/>
              </a:spcAft>
              <a:defRPr sz="2300" b="0">
                <a:solidFill>
                  <a:srgbClr val="F2F6FD"/>
                </a:solidFill>
                <a:latin typeface="Aptos"/>
              </a:defRPr>
            </a:pPr>
            <a:r>
              <a:t>4. Un risque identifié lors de l’audit</a:t>
            </a:r>
          </a:p>
          <a:p>
            <a:pPr>
              <a:spcAft>
                <a:spcPts val="1200"/>
              </a:spcAft>
              <a:defRPr sz="2300" b="0">
                <a:solidFill>
                  <a:srgbClr val="F2F6FD"/>
                </a:solidFill>
                <a:latin typeface="Aptos"/>
              </a:defRPr>
            </a:pPr>
            <a:r>
              <a:t>5. Notre prochaine expérience (sans toucher au test final)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5669280"/>
            <a:ext cx="10607040" cy="548640"/>
          </a:xfrm>
          <a:prstGeom prst="roundRect">
            <a:avLst/>
          </a:prstGeom>
          <a:solidFill>
            <a:srgbClr val="1B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57607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FC256"/>
                </a:solidFill>
                <a:latin typeface="Aptos"/>
              </a:defRPr>
            </a:pPr>
            <a:r>
              <a:t>The AI writes the code. You own the decisions.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7D3D1"/>
                </a:solidFill>
                <a:latin typeface="Aptos"/>
              </a:defRPr>
            </a:pPr>
            <a:r>
              <a:t>POUR REVOIR LES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2F6FD"/>
                </a:solidFill>
                <a:latin typeface="Aptos"/>
              </a:defRPr>
            </a:pPr>
            <a:r>
              <a:t>Sources &amp; prolongements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9BBD0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2029968"/>
            <a:ext cx="10469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StatQuest — Machine Learning Fundamentals: Bias and Variance (2018)</a:t>
            </a:r>
          </a:p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Vidéo : youtube.com/watch?v=EuBBz3bI-aA</a:t>
            </a:r>
          </a:p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StatQuest — index des vidéos Machine Learning</a:t>
            </a:r>
          </a:p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statquest.org/video_index.html</a:t>
            </a:r>
          </a:p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2000" b="0">
                <a:solidFill>
                  <a:srgbClr val="F2F6FD"/>
                </a:solidFill>
                <a:latin typeface="Aptos"/>
              </a:defRPr>
            </a:pPr>
            <a:r>
              <a:t>Concepts complémentaires : courbes d’apprentissage, validation croisée, régularisation.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1207</Words>
  <Application>Microsoft Macintosh PowerPoint</Application>
  <PresentationFormat>Grand écran</PresentationFormat>
  <Paragraphs>160</Paragraphs>
  <Slides>16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2026-10-20T14:39:58Z</dcterms:modified>
  <cp:category/>
</cp:coreProperties>
</file>